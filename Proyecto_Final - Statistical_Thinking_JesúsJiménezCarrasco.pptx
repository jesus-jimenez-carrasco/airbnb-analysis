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57" r:id="rId3"/>
    <p:sldId id="258" r:id="rId4"/>
    <p:sldId id="259" r:id="rId5"/>
    <p:sldId id="274" r:id="rId6"/>
    <p:sldId id="275" r:id="rId7"/>
    <p:sldId id="276" r:id="rId8"/>
    <p:sldId id="277" r:id="rId9"/>
    <p:sldId id="278" r:id="rId10"/>
    <p:sldId id="260" r:id="rId11"/>
    <p:sldId id="262" r:id="rId12"/>
    <p:sldId id="263" r:id="rId13"/>
    <p:sldId id="264" r:id="rId14"/>
    <p:sldId id="265" r:id="rId15"/>
    <p:sldId id="266" r:id="rId16"/>
    <p:sldId id="268" r:id="rId17"/>
    <p:sldId id="269" r:id="rId18"/>
    <p:sldId id="270" r:id="rId19"/>
    <p:sldId id="271" r:id="rId20"/>
    <p:sldId id="272" r:id="rId21"/>
    <p:sldId id="273" r:id="rId22"/>
  </p:sldIdLst>
  <p:sldSz cx="9144000" cy="5143500" type="screen16x9"/>
  <p:notesSz cx="6858000" cy="9144000"/>
  <p:embeddedFontLst>
    <p:embeddedFont>
      <p:font typeface="Lato" panose="020F0502020204030203" pitchFamily="34" charset="0"/>
      <p:regular r:id="rId24"/>
      <p:bold r:id="rId25"/>
      <p:italic r:id="rId26"/>
      <p:boldItalic r:id="rId27"/>
    </p:embeddedFont>
    <p:embeddedFont>
      <p:font typeface="Montserrat" pitchFamily="2" charset="77"/>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7"/>
    <p:restoredTop sz="94718"/>
  </p:normalViewPr>
  <p:slideViewPr>
    <p:cSldViewPr snapToGrid="0">
      <p:cViewPr varScale="1">
        <p:scale>
          <a:sx n="155" d="100"/>
          <a:sy n="155" d="100"/>
        </p:scale>
        <p:origin x="192" y="1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353e986678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53e986678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353e986678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353e986678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353e986678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353e986678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F2AD2D69-A4AF-FF7A-BD02-E9FD94246DE7}"/>
            </a:ext>
          </a:extLst>
        </p:cNvPr>
        <p:cNvGrpSpPr/>
        <p:nvPr/>
      </p:nvGrpSpPr>
      <p:grpSpPr>
        <a:xfrm>
          <a:off x="0" y="0"/>
          <a:ext cx="0" cy="0"/>
          <a:chOff x="0" y="0"/>
          <a:chExt cx="0" cy="0"/>
        </a:xfrm>
      </p:grpSpPr>
      <p:sp>
        <p:nvSpPr>
          <p:cNvPr id="152" name="Google Shape;152;g3353e986678_0_130:notes">
            <a:extLst>
              <a:ext uri="{FF2B5EF4-FFF2-40B4-BE49-F238E27FC236}">
                <a16:creationId xmlns:a16="http://schemas.microsoft.com/office/drawing/2014/main" id="{1937AE3D-12A1-82CE-FF17-BC9A0A0408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353e986678_0_130:notes">
            <a:extLst>
              <a:ext uri="{FF2B5EF4-FFF2-40B4-BE49-F238E27FC236}">
                <a16:creationId xmlns:a16="http://schemas.microsoft.com/office/drawing/2014/main" id="{498F47B2-4D66-301F-9BEB-6E22B66758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2671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AB820FA4-B897-0918-D99C-D6D44BDE678D}"/>
            </a:ext>
          </a:extLst>
        </p:cNvPr>
        <p:cNvGrpSpPr/>
        <p:nvPr/>
      </p:nvGrpSpPr>
      <p:grpSpPr>
        <a:xfrm>
          <a:off x="0" y="0"/>
          <a:ext cx="0" cy="0"/>
          <a:chOff x="0" y="0"/>
          <a:chExt cx="0" cy="0"/>
        </a:xfrm>
      </p:grpSpPr>
      <p:sp>
        <p:nvSpPr>
          <p:cNvPr id="152" name="Google Shape;152;g3353e986678_0_130:notes">
            <a:extLst>
              <a:ext uri="{FF2B5EF4-FFF2-40B4-BE49-F238E27FC236}">
                <a16:creationId xmlns:a16="http://schemas.microsoft.com/office/drawing/2014/main" id="{61111B1B-F696-382C-A8F7-2867C22E12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353e986678_0_130:notes">
            <a:extLst>
              <a:ext uri="{FF2B5EF4-FFF2-40B4-BE49-F238E27FC236}">
                <a16:creationId xmlns:a16="http://schemas.microsoft.com/office/drawing/2014/main" id="{6B38850B-CB06-35D9-1DA1-F9A919A879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27122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85968DC8-D84D-C163-F8BF-3193BD8D75C4}"/>
            </a:ext>
          </a:extLst>
        </p:cNvPr>
        <p:cNvGrpSpPr/>
        <p:nvPr/>
      </p:nvGrpSpPr>
      <p:grpSpPr>
        <a:xfrm>
          <a:off x="0" y="0"/>
          <a:ext cx="0" cy="0"/>
          <a:chOff x="0" y="0"/>
          <a:chExt cx="0" cy="0"/>
        </a:xfrm>
      </p:grpSpPr>
      <p:sp>
        <p:nvSpPr>
          <p:cNvPr id="152" name="Google Shape;152;g3353e986678_0_130:notes">
            <a:extLst>
              <a:ext uri="{FF2B5EF4-FFF2-40B4-BE49-F238E27FC236}">
                <a16:creationId xmlns:a16="http://schemas.microsoft.com/office/drawing/2014/main" id="{A001708C-4AA4-BA4A-3A36-5403FD5D16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353e986678_0_130:notes">
            <a:extLst>
              <a:ext uri="{FF2B5EF4-FFF2-40B4-BE49-F238E27FC236}">
                <a16:creationId xmlns:a16="http://schemas.microsoft.com/office/drawing/2014/main" id="{95529CF6-CD70-486D-8C49-D09BD69C29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6733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DEF4FFD9-4D60-B9F1-B31B-8527E0E8362B}"/>
            </a:ext>
          </a:extLst>
        </p:cNvPr>
        <p:cNvGrpSpPr/>
        <p:nvPr/>
      </p:nvGrpSpPr>
      <p:grpSpPr>
        <a:xfrm>
          <a:off x="0" y="0"/>
          <a:ext cx="0" cy="0"/>
          <a:chOff x="0" y="0"/>
          <a:chExt cx="0" cy="0"/>
        </a:xfrm>
      </p:grpSpPr>
      <p:sp>
        <p:nvSpPr>
          <p:cNvPr id="152" name="Google Shape;152;g3353e986678_0_130:notes">
            <a:extLst>
              <a:ext uri="{FF2B5EF4-FFF2-40B4-BE49-F238E27FC236}">
                <a16:creationId xmlns:a16="http://schemas.microsoft.com/office/drawing/2014/main" id="{532ECB5D-92DD-B211-82F5-325282E13B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353e986678_0_130:notes">
            <a:extLst>
              <a:ext uri="{FF2B5EF4-FFF2-40B4-BE49-F238E27FC236}">
                <a16:creationId xmlns:a16="http://schemas.microsoft.com/office/drawing/2014/main" id="{948A2AE3-6FE1-AEEC-8D84-E5462E5907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4742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536A6780-2C99-7E71-E583-54D47BB93E82}"/>
            </a:ext>
          </a:extLst>
        </p:cNvPr>
        <p:cNvGrpSpPr/>
        <p:nvPr/>
      </p:nvGrpSpPr>
      <p:grpSpPr>
        <a:xfrm>
          <a:off x="0" y="0"/>
          <a:ext cx="0" cy="0"/>
          <a:chOff x="0" y="0"/>
          <a:chExt cx="0" cy="0"/>
        </a:xfrm>
      </p:grpSpPr>
      <p:sp>
        <p:nvSpPr>
          <p:cNvPr id="152" name="Google Shape;152;g3353e986678_0_130:notes">
            <a:extLst>
              <a:ext uri="{FF2B5EF4-FFF2-40B4-BE49-F238E27FC236}">
                <a16:creationId xmlns:a16="http://schemas.microsoft.com/office/drawing/2014/main" id="{7A93C4A0-1C72-B522-6FBA-E5C4853FB8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353e986678_0_130:notes">
            <a:extLst>
              <a:ext uri="{FF2B5EF4-FFF2-40B4-BE49-F238E27FC236}">
                <a16:creationId xmlns:a16="http://schemas.microsoft.com/office/drawing/2014/main" id="{B8C8B049-DE31-F77A-3489-41848ED368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27374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353e986678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353e986678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353e986678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353e986678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A451D0BA-8975-5951-004A-55BB58672D12}"/>
            </a:ext>
          </a:extLst>
        </p:cNvPr>
        <p:cNvGrpSpPr/>
        <p:nvPr/>
      </p:nvGrpSpPr>
      <p:grpSpPr>
        <a:xfrm>
          <a:off x="0" y="0"/>
          <a:ext cx="0" cy="0"/>
          <a:chOff x="0" y="0"/>
          <a:chExt cx="0" cy="0"/>
        </a:xfrm>
      </p:grpSpPr>
      <p:sp>
        <p:nvSpPr>
          <p:cNvPr id="188" name="Google Shape;188;g3353e986678_0_140:notes">
            <a:extLst>
              <a:ext uri="{FF2B5EF4-FFF2-40B4-BE49-F238E27FC236}">
                <a16:creationId xmlns:a16="http://schemas.microsoft.com/office/drawing/2014/main" id="{836A4473-419A-E608-34BC-75C06B5393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353e986678_0_140:notes">
            <a:extLst>
              <a:ext uri="{FF2B5EF4-FFF2-40B4-BE49-F238E27FC236}">
                <a16:creationId xmlns:a16="http://schemas.microsoft.com/office/drawing/2014/main" id="{EF7A4CCC-183B-4400-FA54-8CC29AE186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05264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0175E949-28FE-82DB-A2F0-0AC44416DBF6}"/>
            </a:ext>
          </a:extLst>
        </p:cNvPr>
        <p:cNvGrpSpPr/>
        <p:nvPr/>
      </p:nvGrpSpPr>
      <p:grpSpPr>
        <a:xfrm>
          <a:off x="0" y="0"/>
          <a:ext cx="0" cy="0"/>
          <a:chOff x="0" y="0"/>
          <a:chExt cx="0" cy="0"/>
        </a:xfrm>
      </p:grpSpPr>
      <p:sp>
        <p:nvSpPr>
          <p:cNvPr id="188" name="Google Shape;188;g3353e986678_0_140:notes">
            <a:extLst>
              <a:ext uri="{FF2B5EF4-FFF2-40B4-BE49-F238E27FC236}">
                <a16:creationId xmlns:a16="http://schemas.microsoft.com/office/drawing/2014/main" id="{20466203-E816-9E90-9A84-8C8D3B0A02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353e986678_0_140:notes">
            <a:extLst>
              <a:ext uri="{FF2B5EF4-FFF2-40B4-BE49-F238E27FC236}">
                <a16:creationId xmlns:a16="http://schemas.microsoft.com/office/drawing/2014/main" id="{DD10A007-97C7-C33A-6A27-EE96AAF121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0055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DFCB874B-6F20-5C34-9A3E-7B163F921341}"/>
            </a:ext>
          </a:extLst>
        </p:cNvPr>
        <p:cNvGrpSpPr/>
        <p:nvPr/>
      </p:nvGrpSpPr>
      <p:grpSpPr>
        <a:xfrm>
          <a:off x="0" y="0"/>
          <a:ext cx="0" cy="0"/>
          <a:chOff x="0" y="0"/>
          <a:chExt cx="0" cy="0"/>
        </a:xfrm>
      </p:grpSpPr>
      <p:sp>
        <p:nvSpPr>
          <p:cNvPr id="188" name="Google Shape;188;g3353e986678_0_140:notes">
            <a:extLst>
              <a:ext uri="{FF2B5EF4-FFF2-40B4-BE49-F238E27FC236}">
                <a16:creationId xmlns:a16="http://schemas.microsoft.com/office/drawing/2014/main" id="{3D6EA8CB-4A15-CE15-235A-31F3A75C5D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353e986678_0_140:notes">
            <a:extLst>
              <a:ext uri="{FF2B5EF4-FFF2-40B4-BE49-F238E27FC236}">
                <a16:creationId xmlns:a16="http://schemas.microsoft.com/office/drawing/2014/main" id="{047F63AE-9F3D-F9DB-DEDF-2801AC8FCE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79286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7389772A-AD36-F119-A51D-ED4C8CBD7725}"/>
            </a:ext>
          </a:extLst>
        </p:cNvPr>
        <p:cNvGrpSpPr/>
        <p:nvPr/>
      </p:nvGrpSpPr>
      <p:grpSpPr>
        <a:xfrm>
          <a:off x="0" y="0"/>
          <a:ext cx="0" cy="0"/>
          <a:chOff x="0" y="0"/>
          <a:chExt cx="0" cy="0"/>
        </a:xfrm>
      </p:grpSpPr>
      <p:sp>
        <p:nvSpPr>
          <p:cNvPr id="188" name="Google Shape;188;g3353e986678_0_140:notes">
            <a:extLst>
              <a:ext uri="{FF2B5EF4-FFF2-40B4-BE49-F238E27FC236}">
                <a16:creationId xmlns:a16="http://schemas.microsoft.com/office/drawing/2014/main" id="{0D216DC6-0042-7736-57FA-867BBA81BC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353e986678_0_140:notes">
            <a:extLst>
              <a:ext uri="{FF2B5EF4-FFF2-40B4-BE49-F238E27FC236}">
                <a16:creationId xmlns:a16="http://schemas.microsoft.com/office/drawing/2014/main" id="{11F2163F-087C-A1EC-C50F-052DFB7B68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45315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5FE6EA2D-782E-0BCC-E48D-4E424E065140}"/>
            </a:ext>
          </a:extLst>
        </p:cNvPr>
        <p:cNvGrpSpPr/>
        <p:nvPr/>
      </p:nvGrpSpPr>
      <p:grpSpPr>
        <a:xfrm>
          <a:off x="0" y="0"/>
          <a:ext cx="0" cy="0"/>
          <a:chOff x="0" y="0"/>
          <a:chExt cx="0" cy="0"/>
        </a:xfrm>
      </p:grpSpPr>
      <p:sp>
        <p:nvSpPr>
          <p:cNvPr id="188" name="Google Shape;188;g3353e986678_0_140:notes">
            <a:extLst>
              <a:ext uri="{FF2B5EF4-FFF2-40B4-BE49-F238E27FC236}">
                <a16:creationId xmlns:a16="http://schemas.microsoft.com/office/drawing/2014/main" id="{1F1E08F4-082B-31BD-60E3-53CA41BB8C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353e986678_0_140:notes">
            <a:extLst>
              <a:ext uri="{FF2B5EF4-FFF2-40B4-BE49-F238E27FC236}">
                <a16:creationId xmlns:a16="http://schemas.microsoft.com/office/drawing/2014/main" id="{D66581CC-D61E-F44C-EDB3-65E7E50203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04096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4C155C9D-E0BD-F731-3413-4A3AC9A4A88D}"/>
            </a:ext>
          </a:extLst>
        </p:cNvPr>
        <p:cNvGrpSpPr/>
        <p:nvPr/>
      </p:nvGrpSpPr>
      <p:grpSpPr>
        <a:xfrm>
          <a:off x="0" y="0"/>
          <a:ext cx="0" cy="0"/>
          <a:chOff x="0" y="0"/>
          <a:chExt cx="0" cy="0"/>
        </a:xfrm>
      </p:grpSpPr>
      <p:sp>
        <p:nvSpPr>
          <p:cNvPr id="188" name="Google Shape;188;g3353e986678_0_140:notes">
            <a:extLst>
              <a:ext uri="{FF2B5EF4-FFF2-40B4-BE49-F238E27FC236}">
                <a16:creationId xmlns:a16="http://schemas.microsoft.com/office/drawing/2014/main" id="{8FBD426F-EBD2-0669-D278-6888616C61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353e986678_0_140:notes">
            <a:extLst>
              <a:ext uri="{FF2B5EF4-FFF2-40B4-BE49-F238E27FC236}">
                <a16:creationId xmlns:a16="http://schemas.microsoft.com/office/drawing/2014/main" id="{BDA8C27A-84B9-274C-ED95-B14B0EFDC4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24424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ED64249D-4184-F45D-2B2D-34D5071BA20D}"/>
            </a:ext>
          </a:extLst>
        </p:cNvPr>
        <p:cNvGrpSpPr/>
        <p:nvPr/>
      </p:nvGrpSpPr>
      <p:grpSpPr>
        <a:xfrm>
          <a:off x="0" y="0"/>
          <a:ext cx="0" cy="0"/>
          <a:chOff x="0" y="0"/>
          <a:chExt cx="0" cy="0"/>
        </a:xfrm>
      </p:grpSpPr>
      <p:sp>
        <p:nvSpPr>
          <p:cNvPr id="188" name="Google Shape;188;g3353e986678_0_140:notes">
            <a:extLst>
              <a:ext uri="{FF2B5EF4-FFF2-40B4-BE49-F238E27FC236}">
                <a16:creationId xmlns:a16="http://schemas.microsoft.com/office/drawing/2014/main" id="{ACDC0784-090A-6805-5391-4CBF85DEF1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353e986678_0_140:notes">
            <a:extLst>
              <a:ext uri="{FF2B5EF4-FFF2-40B4-BE49-F238E27FC236}">
                <a16:creationId xmlns:a16="http://schemas.microsoft.com/office/drawing/2014/main" id="{5DDD2215-0DBA-A177-DD8A-73D5454BEE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19035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E60C98F7-659D-334E-8F2F-57E4E34591F4}"/>
            </a:ext>
          </a:extLst>
        </p:cNvPr>
        <p:cNvGrpSpPr/>
        <p:nvPr/>
      </p:nvGrpSpPr>
      <p:grpSpPr>
        <a:xfrm>
          <a:off x="0" y="0"/>
          <a:ext cx="0" cy="0"/>
          <a:chOff x="0" y="0"/>
          <a:chExt cx="0" cy="0"/>
        </a:xfrm>
      </p:grpSpPr>
      <p:sp>
        <p:nvSpPr>
          <p:cNvPr id="188" name="Google Shape;188;g3353e986678_0_140:notes">
            <a:extLst>
              <a:ext uri="{FF2B5EF4-FFF2-40B4-BE49-F238E27FC236}">
                <a16:creationId xmlns:a16="http://schemas.microsoft.com/office/drawing/2014/main" id="{41F2A339-72CB-0C7A-95CC-1822CBC793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353e986678_0_140:notes">
            <a:extLst>
              <a:ext uri="{FF2B5EF4-FFF2-40B4-BE49-F238E27FC236}">
                <a16:creationId xmlns:a16="http://schemas.microsoft.com/office/drawing/2014/main" id="{933753C6-AA96-BFDF-FD25-423CF5938E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5432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2BD4EB0F-1409-24E0-A117-6B7AE1A7B6C8}"/>
            </a:ext>
          </a:extLst>
        </p:cNvPr>
        <p:cNvGrpSpPr/>
        <p:nvPr/>
      </p:nvGrpSpPr>
      <p:grpSpPr>
        <a:xfrm>
          <a:off x="0" y="0"/>
          <a:ext cx="0" cy="0"/>
          <a:chOff x="0" y="0"/>
          <a:chExt cx="0" cy="0"/>
        </a:xfrm>
      </p:grpSpPr>
      <p:sp>
        <p:nvSpPr>
          <p:cNvPr id="188" name="Google Shape;188;g3353e986678_0_140:notes">
            <a:extLst>
              <a:ext uri="{FF2B5EF4-FFF2-40B4-BE49-F238E27FC236}">
                <a16:creationId xmlns:a16="http://schemas.microsoft.com/office/drawing/2014/main" id="{FD1FF9DF-54D5-226D-FC23-609BE1BFE8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353e986678_0_140:notes">
            <a:extLst>
              <a:ext uri="{FF2B5EF4-FFF2-40B4-BE49-F238E27FC236}">
                <a16:creationId xmlns:a16="http://schemas.microsoft.com/office/drawing/2014/main" id="{E56CB936-C7F2-5DC2-E593-B4417DB9DA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4513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6A74C7A9-0076-F545-0DC9-28EF63F6A864}"/>
            </a:ext>
          </a:extLst>
        </p:cNvPr>
        <p:cNvGrpSpPr/>
        <p:nvPr/>
      </p:nvGrpSpPr>
      <p:grpSpPr>
        <a:xfrm>
          <a:off x="0" y="0"/>
          <a:ext cx="0" cy="0"/>
          <a:chOff x="0" y="0"/>
          <a:chExt cx="0" cy="0"/>
        </a:xfrm>
      </p:grpSpPr>
      <p:sp>
        <p:nvSpPr>
          <p:cNvPr id="188" name="Google Shape;188;g3353e986678_0_140:notes">
            <a:extLst>
              <a:ext uri="{FF2B5EF4-FFF2-40B4-BE49-F238E27FC236}">
                <a16:creationId xmlns:a16="http://schemas.microsoft.com/office/drawing/2014/main" id="{FE7D45C9-AA30-99AD-3BDB-C3629A16A9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353e986678_0_140:notes">
            <a:extLst>
              <a:ext uri="{FF2B5EF4-FFF2-40B4-BE49-F238E27FC236}">
                <a16:creationId xmlns:a16="http://schemas.microsoft.com/office/drawing/2014/main" id="{78DED95E-D314-6111-A677-CEA25AA2AC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1024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
              <a:t>Statistikal Thinking</a:t>
            </a:r>
            <a:endParaRPr/>
          </a:p>
        </p:txBody>
      </p:sp>
      <p:sp>
        <p:nvSpPr>
          <p:cNvPr id="135" name="Google Shape;135;p13"/>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s"/>
              <a:t>Proyecto Final.</a:t>
            </a:r>
            <a:endParaRPr/>
          </a:p>
          <a:p>
            <a:pPr marL="0" lvl="0" indent="0" algn="l" rtl="0">
              <a:spcBef>
                <a:spcPts val="0"/>
              </a:spcBef>
              <a:spcAft>
                <a:spcPts val="0"/>
              </a:spcAft>
              <a:buNone/>
            </a:pPr>
            <a:r>
              <a:rPr lang="es"/>
              <a:t>Jesús Jiménez Carrasco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4"/>
          <p:cNvSpPr txBox="1">
            <a:spLocks noGrp="1"/>
          </p:cNvSpPr>
          <p:nvPr>
            <p:ph type="title"/>
          </p:nvPr>
        </p:nvSpPr>
        <p:spPr>
          <a:xfrm>
            <a:off x="1297425" y="585136"/>
            <a:ext cx="7038900" cy="9141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SzPts val="2400"/>
              <a:buAutoNum type="arabicPeriod"/>
            </a:pPr>
            <a:r>
              <a:rPr lang="es" b="1" dirty="0"/>
              <a:t>Contexto Actual</a:t>
            </a:r>
            <a:endParaRPr b="1" dirty="0"/>
          </a:p>
        </p:txBody>
      </p:sp>
      <p:sp>
        <p:nvSpPr>
          <p:cNvPr id="141" name="Google Shape;141;p14"/>
          <p:cNvSpPr txBox="1">
            <a:spLocks noGrp="1"/>
          </p:cNvSpPr>
          <p:nvPr>
            <p:ph type="body" idx="1"/>
          </p:nvPr>
        </p:nvSpPr>
        <p:spPr>
          <a:xfrm>
            <a:off x="1297500" y="1116150"/>
            <a:ext cx="7482300" cy="291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
              <a:t>Pese a ser considerado uno de los motores principales de la economía española, el mercado de compra-venta de inmuebles no atraviesa su mejor momento, acumulando nueve meses de subidas. </a:t>
            </a: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pic>
        <p:nvPicPr>
          <p:cNvPr id="142" name="Google Shape;142;p14"/>
          <p:cNvPicPr preferRelativeResize="0"/>
          <p:nvPr/>
        </p:nvPicPr>
        <p:blipFill>
          <a:blip r:embed="rId3">
            <a:alphaModFix/>
          </a:blip>
          <a:stretch>
            <a:fillRect/>
          </a:stretch>
        </p:blipFill>
        <p:spPr>
          <a:xfrm>
            <a:off x="323150" y="2026325"/>
            <a:ext cx="5166474" cy="2911199"/>
          </a:xfrm>
          <a:prstGeom prst="rect">
            <a:avLst/>
          </a:prstGeom>
          <a:noFill/>
          <a:ln>
            <a:noFill/>
          </a:ln>
        </p:spPr>
      </p:pic>
      <p:sp>
        <p:nvSpPr>
          <p:cNvPr id="143" name="Google Shape;143;p14"/>
          <p:cNvSpPr txBox="1"/>
          <p:nvPr/>
        </p:nvSpPr>
        <p:spPr>
          <a:xfrm>
            <a:off x="5599875" y="2045075"/>
            <a:ext cx="3180000" cy="287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300">
                <a:solidFill>
                  <a:schemeClr val="lt1"/>
                </a:solidFill>
                <a:latin typeface="Lato"/>
                <a:ea typeface="Lato"/>
                <a:cs typeface="Lato"/>
                <a:sym typeface="Lato"/>
              </a:rPr>
              <a:t>No sólo suben los precios, si no que no se crean nuevas viviendas. Según el Instituto Nacional de Estadística (INE), en la última década la creación de viviendas ha sido la más baja desde los años 70.</a:t>
            </a:r>
            <a:endParaRPr sz="1300">
              <a:solidFill>
                <a:schemeClr val="lt1"/>
              </a:solidFill>
              <a:latin typeface="Lato"/>
              <a:ea typeface="Lato"/>
              <a:cs typeface="Lato"/>
              <a:sym typeface="Lato"/>
            </a:endParaRPr>
          </a:p>
          <a:p>
            <a:pPr marL="0" lvl="0" indent="0" algn="l" rtl="0">
              <a:lnSpc>
                <a:spcPct val="115000"/>
              </a:lnSpc>
              <a:spcBef>
                <a:spcPts val="1200"/>
              </a:spcBef>
              <a:spcAft>
                <a:spcPts val="1200"/>
              </a:spcAft>
              <a:buNone/>
            </a:pPr>
            <a:r>
              <a:rPr lang="es" sz="1300">
                <a:solidFill>
                  <a:schemeClr val="lt1"/>
                </a:solidFill>
                <a:latin typeface="Lato"/>
                <a:ea typeface="Lato"/>
                <a:cs typeface="Lato"/>
                <a:sym typeface="Lato"/>
              </a:rPr>
              <a:t>Según PwC, los movimientos demográficos, formación neta de hogares y los compradores internacionales explica cerca del 90% del incremento de precio de la vivienda en los últimos 5 años.</a:t>
            </a:r>
            <a:endParaRPr sz="1300">
              <a:solidFill>
                <a:schemeClr val="lt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5"/>
          <p:cNvSpPr txBox="1">
            <a:spLocks noGrp="1"/>
          </p:cNvSpPr>
          <p:nvPr>
            <p:ph type="title"/>
          </p:nvPr>
        </p:nvSpPr>
        <p:spPr>
          <a:xfrm>
            <a:off x="1297500" y="675075"/>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dirty="0"/>
              <a:t>¿Que pasa con AirnBnB y los aquileres turísticos?</a:t>
            </a:r>
            <a:endParaRPr b="1" dirty="0"/>
          </a:p>
        </p:txBody>
      </p:sp>
      <p:sp>
        <p:nvSpPr>
          <p:cNvPr id="149" name="Google Shape;149;p15"/>
          <p:cNvSpPr txBox="1">
            <a:spLocks noGrp="1"/>
          </p:cNvSpPr>
          <p:nvPr>
            <p:ph type="body" idx="1"/>
          </p:nvPr>
        </p:nvSpPr>
        <p:spPr>
          <a:xfrm>
            <a:off x="1297500" y="1557225"/>
            <a:ext cx="3162900" cy="2911200"/>
          </a:xfrm>
          <a:prstGeom prst="rect">
            <a:avLst/>
          </a:prstGeom>
        </p:spPr>
        <p:txBody>
          <a:bodyPr spcFirstLastPara="1" wrap="square" lIns="91425" tIns="91425" rIns="91425" bIns="91425" anchor="t" anchorCtr="0">
            <a:normAutofit fontScale="85000" lnSpcReduction="10000"/>
          </a:bodyPr>
          <a:lstStyle/>
          <a:p>
            <a:pPr marL="0" lvl="0" indent="0" algn="just" rtl="0">
              <a:spcBef>
                <a:spcPts val="0"/>
              </a:spcBef>
              <a:spcAft>
                <a:spcPts val="0"/>
              </a:spcAft>
              <a:buNone/>
            </a:pPr>
            <a:r>
              <a:rPr lang="es" sz="1700" dirty="0"/>
              <a:t>Según el INE, menos del 1% del parque inmobiliario de Madrid se destina a alquileres turísticos</a:t>
            </a:r>
            <a:endParaRPr sz="1700" dirty="0"/>
          </a:p>
          <a:p>
            <a:pPr marL="0" lvl="0" indent="0" algn="just" rtl="0">
              <a:spcBef>
                <a:spcPts val="1200"/>
              </a:spcBef>
              <a:spcAft>
                <a:spcPts val="0"/>
              </a:spcAft>
              <a:buNone/>
            </a:pPr>
            <a:r>
              <a:rPr lang="es" sz="1700" dirty="0"/>
              <a:t>El 7,6% del mismo del distrito Centro, atiende la demanda de dichos alquileres</a:t>
            </a:r>
            <a:endParaRPr sz="1700" dirty="0"/>
          </a:p>
          <a:p>
            <a:pPr marL="0" lvl="0" indent="0" algn="just" rtl="0">
              <a:spcBef>
                <a:spcPts val="1200"/>
              </a:spcBef>
              <a:spcAft>
                <a:spcPts val="1200"/>
              </a:spcAft>
              <a:buNone/>
            </a:pPr>
            <a:r>
              <a:rPr lang="es" sz="1700" dirty="0"/>
              <a:t>De acuerdo con PwC, dichos alquileres explicarían tan sólo el 0,3% de la subida del precio de la vivienda</a:t>
            </a:r>
            <a:endParaRPr sz="1700" dirty="0"/>
          </a:p>
        </p:txBody>
      </p:sp>
      <p:pic>
        <p:nvPicPr>
          <p:cNvPr id="150" name="Google Shape;150;p15" descr="HD wallpaper: spain, madrid, interior, design, house, summer ..."/>
          <p:cNvPicPr preferRelativeResize="0"/>
          <p:nvPr/>
        </p:nvPicPr>
        <p:blipFill>
          <a:blip r:embed="rId3">
            <a:alphaModFix/>
          </a:blip>
          <a:stretch>
            <a:fillRect/>
          </a:stretch>
        </p:blipFill>
        <p:spPr>
          <a:xfrm>
            <a:off x="5544325" y="1247400"/>
            <a:ext cx="2648864" cy="35308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6"/>
          <p:cNvSpPr txBox="1">
            <a:spLocks noGrp="1"/>
          </p:cNvSpPr>
          <p:nvPr>
            <p:ph type="title"/>
          </p:nvPr>
        </p:nvSpPr>
        <p:spPr>
          <a:xfrm>
            <a:off x="1290740" y="581025"/>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 b="1" dirty="0"/>
              <a:t>2. Problemática</a:t>
            </a:r>
            <a:endParaRPr b="1" dirty="0"/>
          </a:p>
        </p:txBody>
      </p:sp>
      <p:sp>
        <p:nvSpPr>
          <p:cNvPr id="156" name="Google Shape;156;p16"/>
          <p:cNvSpPr txBox="1">
            <a:spLocks noGrp="1"/>
          </p:cNvSpPr>
          <p:nvPr>
            <p:ph type="body" idx="1"/>
          </p:nvPr>
        </p:nvSpPr>
        <p:spPr>
          <a:xfrm>
            <a:off x="4795500" y="1495125"/>
            <a:ext cx="3815100" cy="29112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r>
              <a:rPr lang="es" sz="1400" b="1" dirty="0"/>
              <a:t>Nuestro cliente busca optimizar los precios de su parque inmobiliario, teniendo en cuenta el contexto actual y siendo consciente de la evolución de </a:t>
            </a:r>
            <a:r>
              <a:rPr lang="es" sz="1400" dirty="0"/>
              <a:t>los</a:t>
            </a:r>
            <a:r>
              <a:rPr lang="es" sz="1400" b="1" dirty="0"/>
              <a:t> precios en el mercado, para así poder ofrecer una propuesta de valor competitiva, alineada con las demandas actuales de los viajeros que visitan la capital.</a:t>
            </a:r>
            <a:endParaRPr sz="1400" b="1" dirty="0"/>
          </a:p>
        </p:txBody>
      </p:sp>
      <p:pic>
        <p:nvPicPr>
          <p:cNvPr id="157" name="Google Shape;157;p16" descr="mapa, turista, viajes, turismo, viajero, vacaciones, viaje, viajar ..."/>
          <p:cNvPicPr preferRelativeResize="0"/>
          <p:nvPr/>
        </p:nvPicPr>
        <p:blipFill>
          <a:blip r:embed="rId3">
            <a:alphaModFix/>
          </a:blip>
          <a:stretch>
            <a:fillRect/>
          </a:stretch>
        </p:blipFill>
        <p:spPr>
          <a:xfrm>
            <a:off x="1297500" y="1495125"/>
            <a:ext cx="3349250" cy="22340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0135F31C-AC5D-6196-1E7F-C3C718F4FF12}"/>
            </a:ext>
          </a:extLst>
        </p:cNvPr>
        <p:cNvGrpSpPr/>
        <p:nvPr/>
      </p:nvGrpSpPr>
      <p:grpSpPr>
        <a:xfrm>
          <a:off x="0" y="0"/>
          <a:ext cx="0" cy="0"/>
          <a:chOff x="0" y="0"/>
          <a:chExt cx="0" cy="0"/>
        </a:xfrm>
      </p:grpSpPr>
      <p:sp>
        <p:nvSpPr>
          <p:cNvPr id="155" name="Google Shape;155;p16">
            <a:extLst>
              <a:ext uri="{FF2B5EF4-FFF2-40B4-BE49-F238E27FC236}">
                <a16:creationId xmlns:a16="http://schemas.microsoft.com/office/drawing/2014/main" id="{EB31E7E0-C18B-726F-601A-A435CC861F14}"/>
              </a:ext>
            </a:extLst>
          </p:cNvPr>
          <p:cNvSpPr txBox="1">
            <a:spLocks noGrp="1"/>
          </p:cNvSpPr>
          <p:nvPr>
            <p:ph type="title"/>
          </p:nvPr>
        </p:nvSpPr>
        <p:spPr>
          <a:xfrm>
            <a:off x="1290740" y="581025"/>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 b="1" dirty="0"/>
              <a:t>2.1 Contexto del Problema</a:t>
            </a:r>
            <a:endParaRPr b="1" dirty="0"/>
          </a:p>
        </p:txBody>
      </p:sp>
      <p:pic>
        <p:nvPicPr>
          <p:cNvPr id="5" name="Picture 4">
            <a:extLst>
              <a:ext uri="{FF2B5EF4-FFF2-40B4-BE49-F238E27FC236}">
                <a16:creationId xmlns:a16="http://schemas.microsoft.com/office/drawing/2014/main" id="{50DCE002-C4FB-4C17-F116-20BC82806DE7}"/>
              </a:ext>
            </a:extLst>
          </p:cNvPr>
          <p:cNvPicPr>
            <a:picLocks noChangeAspect="1"/>
          </p:cNvPicPr>
          <p:nvPr/>
        </p:nvPicPr>
        <p:blipFill>
          <a:blip r:embed="rId3"/>
          <a:stretch>
            <a:fillRect/>
          </a:stretch>
        </p:blipFill>
        <p:spPr>
          <a:xfrm>
            <a:off x="1290740" y="1331839"/>
            <a:ext cx="2109750" cy="3550006"/>
          </a:xfrm>
          <a:prstGeom prst="rect">
            <a:avLst/>
          </a:prstGeom>
        </p:spPr>
      </p:pic>
      <p:sp>
        <p:nvSpPr>
          <p:cNvPr id="6" name="Google Shape;156;p16">
            <a:extLst>
              <a:ext uri="{FF2B5EF4-FFF2-40B4-BE49-F238E27FC236}">
                <a16:creationId xmlns:a16="http://schemas.microsoft.com/office/drawing/2014/main" id="{7823F3F8-2FB9-043A-68F7-CE7A310232FE}"/>
              </a:ext>
            </a:extLst>
          </p:cNvPr>
          <p:cNvSpPr txBox="1">
            <a:spLocks noGrp="1"/>
          </p:cNvSpPr>
          <p:nvPr>
            <p:ph type="body" idx="1"/>
          </p:nvPr>
        </p:nvSpPr>
        <p:spPr>
          <a:xfrm>
            <a:off x="3835962" y="1331839"/>
            <a:ext cx="2973052" cy="2911200"/>
          </a:xfrm>
          <a:prstGeom prst="rect">
            <a:avLst/>
          </a:prstGeom>
        </p:spPr>
        <p:txBody>
          <a:bodyPr spcFirstLastPara="1" wrap="square" lIns="91425" tIns="91425" rIns="91425" bIns="91425" anchor="t" anchorCtr="0">
            <a:normAutofit lnSpcReduction="10000"/>
          </a:bodyPr>
          <a:lstStyle/>
          <a:p>
            <a:pPr marL="0" lvl="0" indent="0" rtl="0">
              <a:spcBef>
                <a:spcPts val="0"/>
              </a:spcBef>
              <a:spcAft>
                <a:spcPts val="1200"/>
              </a:spcAft>
              <a:buNone/>
            </a:pPr>
            <a:r>
              <a:rPr lang="es" sz="1400" b="1" dirty="0"/>
              <a:t>Nuestro dispone del siguiente parque inmobiliario distribuido por grupo de Barrios a los que pertenecen</a:t>
            </a:r>
          </a:p>
          <a:p>
            <a:pPr marL="0" lvl="0" indent="0" rtl="0">
              <a:spcBef>
                <a:spcPts val="0"/>
              </a:spcBef>
              <a:spcAft>
                <a:spcPts val="1200"/>
              </a:spcAft>
              <a:buNone/>
            </a:pPr>
            <a:r>
              <a:rPr lang="es" sz="1400" b="1" dirty="0"/>
              <a:t>Cada inmueble dispone de unas características, precios y condiciones distintas, por lo que buscamos dotar de recomendaciones generales para optimizar los precios</a:t>
            </a:r>
          </a:p>
        </p:txBody>
      </p:sp>
    </p:spTree>
    <p:extLst>
      <p:ext uri="{BB962C8B-B14F-4D97-AF65-F5344CB8AC3E}">
        <p14:creationId xmlns:p14="http://schemas.microsoft.com/office/powerpoint/2010/main" val="2802795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04BF8321-CE3D-517A-BBCD-70BD6C820431}"/>
            </a:ext>
          </a:extLst>
        </p:cNvPr>
        <p:cNvGrpSpPr/>
        <p:nvPr/>
      </p:nvGrpSpPr>
      <p:grpSpPr>
        <a:xfrm>
          <a:off x="0" y="0"/>
          <a:ext cx="0" cy="0"/>
          <a:chOff x="0" y="0"/>
          <a:chExt cx="0" cy="0"/>
        </a:xfrm>
      </p:grpSpPr>
      <p:sp>
        <p:nvSpPr>
          <p:cNvPr id="155" name="Google Shape;155;p16">
            <a:extLst>
              <a:ext uri="{FF2B5EF4-FFF2-40B4-BE49-F238E27FC236}">
                <a16:creationId xmlns:a16="http://schemas.microsoft.com/office/drawing/2014/main" id="{BC1D065E-6235-C680-4B81-D59865C89198}"/>
              </a:ext>
            </a:extLst>
          </p:cNvPr>
          <p:cNvSpPr txBox="1">
            <a:spLocks noGrp="1"/>
          </p:cNvSpPr>
          <p:nvPr>
            <p:ph type="title"/>
          </p:nvPr>
        </p:nvSpPr>
        <p:spPr>
          <a:xfrm>
            <a:off x="1290740" y="581025"/>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 b="1" dirty="0"/>
              <a:t>2.1 Contexto del Problema</a:t>
            </a:r>
            <a:endParaRPr b="1" dirty="0"/>
          </a:p>
        </p:txBody>
      </p:sp>
      <p:sp>
        <p:nvSpPr>
          <p:cNvPr id="6" name="Google Shape;156;p16">
            <a:extLst>
              <a:ext uri="{FF2B5EF4-FFF2-40B4-BE49-F238E27FC236}">
                <a16:creationId xmlns:a16="http://schemas.microsoft.com/office/drawing/2014/main" id="{0A8105EC-4838-AF8C-18AB-3B6B89614775}"/>
              </a:ext>
            </a:extLst>
          </p:cNvPr>
          <p:cNvSpPr txBox="1">
            <a:spLocks noGrp="1"/>
          </p:cNvSpPr>
          <p:nvPr>
            <p:ph type="body" idx="1"/>
          </p:nvPr>
        </p:nvSpPr>
        <p:spPr>
          <a:xfrm>
            <a:off x="3835961" y="1331839"/>
            <a:ext cx="3120009" cy="2911200"/>
          </a:xfrm>
          <a:prstGeom prst="rect">
            <a:avLst/>
          </a:prstGeom>
        </p:spPr>
        <p:txBody>
          <a:bodyPr spcFirstLastPara="1" wrap="square" lIns="91425" tIns="91425" rIns="91425" bIns="91425" anchor="t" anchorCtr="0">
            <a:normAutofit/>
          </a:bodyPr>
          <a:lstStyle/>
          <a:p>
            <a:pPr marL="0" lvl="0" indent="0" rtl="0">
              <a:spcBef>
                <a:spcPts val="0"/>
              </a:spcBef>
              <a:spcAft>
                <a:spcPts val="1200"/>
              </a:spcAft>
              <a:buNone/>
            </a:pPr>
            <a:r>
              <a:rPr lang="es" sz="1400" b="1" dirty="0"/>
              <a:t>En la siguiente figura se muestran el precio medio por noche y por grupo de barrios a los que pertenecen los inmuebles, siendo el precio medio total de 79 Euros la noche.</a:t>
            </a:r>
          </a:p>
          <a:p>
            <a:pPr marL="0" lvl="0" indent="0" rtl="0">
              <a:spcBef>
                <a:spcPts val="0"/>
              </a:spcBef>
              <a:spcAft>
                <a:spcPts val="1200"/>
              </a:spcAft>
              <a:buNone/>
            </a:pPr>
            <a:r>
              <a:rPr lang="es" sz="1400" b="1" dirty="0"/>
              <a:t>Para el análisis, vamos a coger los precios más asequibles que van desde el mínimo, 10 EUR / Noche, hasta los 350 EUR / Noche.</a:t>
            </a:r>
          </a:p>
        </p:txBody>
      </p:sp>
      <p:pic>
        <p:nvPicPr>
          <p:cNvPr id="3" name="Picture 2">
            <a:extLst>
              <a:ext uri="{FF2B5EF4-FFF2-40B4-BE49-F238E27FC236}">
                <a16:creationId xmlns:a16="http://schemas.microsoft.com/office/drawing/2014/main" id="{2A3FB1F8-1306-5119-6E28-5DA56EC1732A}"/>
              </a:ext>
            </a:extLst>
          </p:cNvPr>
          <p:cNvPicPr>
            <a:picLocks noChangeAspect="1"/>
          </p:cNvPicPr>
          <p:nvPr/>
        </p:nvPicPr>
        <p:blipFill>
          <a:blip r:embed="rId3"/>
          <a:stretch>
            <a:fillRect/>
          </a:stretch>
        </p:blipFill>
        <p:spPr>
          <a:xfrm>
            <a:off x="1290740" y="1096637"/>
            <a:ext cx="2216264" cy="3848298"/>
          </a:xfrm>
          <a:prstGeom prst="rect">
            <a:avLst/>
          </a:prstGeom>
        </p:spPr>
      </p:pic>
    </p:spTree>
    <p:extLst>
      <p:ext uri="{BB962C8B-B14F-4D97-AF65-F5344CB8AC3E}">
        <p14:creationId xmlns:p14="http://schemas.microsoft.com/office/powerpoint/2010/main" val="3955991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36E15E73-8140-989A-EA9D-828B16147AC8}"/>
            </a:ext>
          </a:extLst>
        </p:cNvPr>
        <p:cNvGrpSpPr/>
        <p:nvPr/>
      </p:nvGrpSpPr>
      <p:grpSpPr>
        <a:xfrm>
          <a:off x="0" y="0"/>
          <a:ext cx="0" cy="0"/>
          <a:chOff x="0" y="0"/>
          <a:chExt cx="0" cy="0"/>
        </a:xfrm>
      </p:grpSpPr>
      <p:sp>
        <p:nvSpPr>
          <p:cNvPr id="155" name="Google Shape;155;p16">
            <a:extLst>
              <a:ext uri="{FF2B5EF4-FFF2-40B4-BE49-F238E27FC236}">
                <a16:creationId xmlns:a16="http://schemas.microsoft.com/office/drawing/2014/main" id="{32E1AF57-DF59-8226-6013-259A8AC70CDF}"/>
              </a:ext>
            </a:extLst>
          </p:cNvPr>
          <p:cNvSpPr txBox="1">
            <a:spLocks noGrp="1"/>
          </p:cNvSpPr>
          <p:nvPr>
            <p:ph type="title"/>
          </p:nvPr>
        </p:nvSpPr>
        <p:spPr>
          <a:xfrm>
            <a:off x="1290740" y="581025"/>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 b="1" dirty="0"/>
              <a:t>2.1 Contexto del Problema</a:t>
            </a:r>
            <a:endParaRPr b="1" dirty="0"/>
          </a:p>
        </p:txBody>
      </p:sp>
      <p:pic>
        <p:nvPicPr>
          <p:cNvPr id="4" name="Imagen 3">
            <a:extLst>
              <a:ext uri="{FF2B5EF4-FFF2-40B4-BE49-F238E27FC236}">
                <a16:creationId xmlns:a16="http://schemas.microsoft.com/office/drawing/2014/main" id="{ED9E818D-72B0-49A8-5D53-926C3087FD8D}"/>
              </a:ext>
            </a:extLst>
          </p:cNvPr>
          <p:cNvPicPr>
            <a:picLocks noChangeAspect="1"/>
          </p:cNvPicPr>
          <p:nvPr/>
        </p:nvPicPr>
        <p:blipFill>
          <a:blip r:embed="rId3"/>
          <a:stretch>
            <a:fillRect/>
          </a:stretch>
        </p:blipFill>
        <p:spPr>
          <a:xfrm>
            <a:off x="1290740" y="1379795"/>
            <a:ext cx="2509220" cy="3648375"/>
          </a:xfrm>
          <a:prstGeom prst="rect">
            <a:avLst/>
          </a:prstGeom>
        </p:spPr>
      </p:pic>
      <p:sp>
        <p:nvSpPr>
          <p:cNvPr id="5" name="Google Shape;156;p16">
            <a:extLst>
              <a:ext uri="{FF2B5EF4-FFF2-40B4-BE49-F238E27FC236}">
                <a16:creationId xmlns:a16="http://schemas.microsoft.com/office/drawing/2014/main" id="{29FE8096-72A0-EAB0-7A7B-5AAFBA8AF722}"/>
              </a:ext>
            </a:extLst>
          </p:cNvPr>
          <p:cNvSpPr txBox="1">
            <a:spLocks noGrp="1"/>
          </p:cNvSpPr>
          <p:nvPr>
            <p:ph type="body" idx="1"/>
          </p:nvPr>
        </p:nvSpPr>
        <p:spPr>
          <a:xfrm>
            <a:off x="3835961" y="1331839"/>
            <a:ext cx="3120009" cy="2911200"/>
          </a:xfrm>
          <a:prstGeom prst="rect">
            <a:avLst/>
          </a:prstGeom>
        </p:spPr>
        <p:txBody>
          <a:bodyPr spcFirstLastPara="1" wrap="square" lIns="91425" tIns="91425" rIns="91425" bIns="91425" anchor="t" anchorCtr="0">
            <a:normAutofit/>
          </a:bodyPr>
          <a:lstStyle/>
          <a:p>
            <a:pPr marL="0" lvl="0" indent="0" rtl="0">
              <a:spcBef>
                <a:spcPts val="0"/>
              </a:spcBef>
              <a:spcAft>
                <a:spcPts val="1200"/>
              </a:spcAft>
              <a:buNone/>
            </a:pPr>
            <a:r>
              <a:rPr lang="es" sz="1400" b="1" dirty="0"/>
              <a:t>La localización de los inmuebles, se basan en dos premisas: cercanía al aeropuerto y a Sol, considerado el centro de Madrid</a:t>
            </a:r>
          </a:p>
        </p:txBody>
      </p:sp>
      <p:sp>
        <p:nvSpPr>
          <p:cNvPr id="7" name="Google Shape;156;p16">
            <a:extLst>
              <a:ext uri="{FF2B5EF4-FFF2-40B4-BE49-F238E27FC236}">
                <a16:creationId xmlns:a16="http://schemas.microsoft.com/office/drawing/2014/main" id="{B20E548C-E7F9-7611-E2A5-548362B6AF7E}"/>
              </a:ext>
            </a:extLst>
          </p:cNvPr>
          <p:cNvSpPr txBox="1">
            <a:spLocks/>
          </p:cNvSpPr>
          <p:nvPr/>
        </p:nvSpPr>
        <p:spPr>
          <a:xfrm>
            <a:off x="3871962" y="3572570"/>
            <a:ext cx="3120009" cy="29112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lt1"/>
              </a:buClr>
              <a:buSzPts val="1300"/>
              <a:buFont typeface="Lato"/>
              <a:buChar char="●"/>
              <a:defRPr sz="1300" b="0" i="0" u="none" strike="noStrike" cap="none">
                <a:solidFill>
                  <a:schemeClr val="lt1"/>
                </a:solidFill>
                <a:latin typeface="Lato"/>
                <a:ea typeface="Lato"/>
                <a:cs typeface="Lato"/>
                <a:sym typeface="Lato"/>
              </a:defRPr>
            </a:lvl1pPr>
            <a:lvl2pPr marL="914400" marR="0" lvl="1"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2pPr>
            <a:lvl3pPr marL="1371600" marR="0" lvl="2"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3pPr>
            <a:lvl4pPr marL="1828800" marR="0" lvl="3"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4pPr>
            <a:lvl5pPr marL="2286000" marR="0" lvl="4"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5pPr>
            <a:lvl6pPr marL="2743200" marR="0" lvl="5"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6pPr>
            <a:lvl7pPr marL="3200400" marR="0" lvl="6"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7pPr>
            <a:lvl8pPr marL="3657600" marR="0" lvl="7"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8pPr>
            <a:lvl9pPr marL="4114800" marR="0" lvl="8"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9pPr>
          </a:lstStyle>
          <a:p>
            <a:pPr marL="0" indent="0">
              <a:spcAft>
                <a:spcPts val="1200"/>
              </a:spcAft>
              <a:buFont typeface="Lato"/>
              <a:buNone/>
            </a:pPr>
            <a:r>
              <a:rPr lang="es" sz="1400" b="1" dirty="0"/>
              <a:t>Figura 1. Distancia media al aeropuerto</a:t>
            </a:r>
          </a:p>
        </p:txBody>
      </p:sp>
    </p:spTree>
    <p:extLst>
      <p:ext uri="{BB962C8B-B14F-4D97-AF65-F5344CB8AC3E}">
        <p14:creationId xmlns:p14="http://schemas.microsoft.com/office/powerpoint/2010/main" val="1122157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905841BB-9739-9A7D-CC11-E153EAF1970A}"/>
            </a:ext>
          </a:extLst>
        </p:cNvPr>
        <p:cNvGrpSpPr/>
        <p:nvPr/>
      </p:nvGrpSpPr>
      <p:grpSpPr>
        <a:xfrm>
          <a:off x="0" y="0"/>
          <a:ext cx="0" cy="0"/>
          <a:chOff x="0" y="0"/>
          <a:chExt cx="0" cy="0"/>
        </a:xfrm>
      </p:grpSpPr>
      <p:sp>
        <p:nvSpPr>
          <p:cNvPr id="155" name="Google Shape;155;p16">
            <a:extLst>
              <a:ext uri="{FF2B5EF4-FFF2-40B4-BE49-F238E27FC236}">
                <a16:creationId xmlns:a16="http://schemas.microsoft.com/office/drawing/2014/main" id="{7CC81372-4328-C95B-48EF-0A3500ED448B}"/>
              </a:ext>
            </a:extLst>
          </p:cNvPr>
          <p:cNvSpPr txBox="1">
            <a:spLocks noGrp="1"/>
          </p:cNvSpPr>
          <p:nvPr>
            <p:ph type="title"/>
          </p:nvPr>
        </p:nvSpPr>
        <p:spPr>
          <a:xfrm>
            <a:off x="1290740" y="581025"/>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 b="1" dirty="0"/>
              <a:t>2.1 Contexto del Problema</a:t>
            </a:r>
            <a:endParaRPr b="1" dirty="0"/>
          </a:p>
        </p:txBody>
      </p:sp>
      <p:sp>
        <p:nvSpPr>
          <p:cNvPr id="7" name="Google Shape;156;p16">
            <a:extLst>
              <a:ext uri="{FF2B5EF4-FFF2-40B4-BE49-F238E27FC236}">
                <a16:creationId xmlns:a16="http://schemas.microsoft.com/office/drawing/2014/main" id="{8191C743-BB57-86DC-9345-FE1442B42F91}"/>
              </a:ext>
            </a:extLst>
          </p:cNvPr>
          <p:cNvSpPr txBox="1">
            <a:spLocks/>
          </p:cNvSpPr>
          <p:nvPr/>
        </p:nvSpPr>
        <p:spPr>
          <a:xfrm>
            <a:off x="3686287" y="1038075"/>
            <a:ext cx="3120009" cy="29112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lt1"/>
              </a:buClr>
              <a:buSzPts val="1300"/>
              <a:buFont typeface="Lato"/>
              <a:buChar char="●"/>
              <a:defRPr sz="1300" b="0" i="0" u="none" strike="noStrike" cap="none">
                <a:solidFill>
                  <a:schemeClr val="lt1"/>
                </a:solidFill>
                <a:latin typeface="Lato"/>
                <a:ea typeface="Lato"/>
                <a:cs typeface="Lato"/>
                <a:sym typeface="Lato"/>
              </a:defRPr>
            </a:lvl1pPr>
            <a:lvl2pPr marL="914400" marR="0" lvl="1"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2pPr>
            <a:lvl3pPr marL="1371600" marR="0" lvl="2"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3pPr>
            <a:lvl4pPr marL="1828800" marR="0" lvl="3"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4pPr>
            <a:lvl5pPr marL="2286000" marR="0" lvl="4"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5pPr>
            <a:lvl6pPr marL="2743200" marR="0" lvl="5"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6pPr>
            <a:lvl7pPr marL="3200400" marR="0" lvl="6"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7pPr>
            <a:lvl8pPr marL="3657600" marR="0" lvl="7"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8pPr>
            <a:lvl9pPr marL="4114800" marR="0" lvl="8"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9pPr>
          </a:lstStyle>
          <a:p>
            <a:pPr marL="0" indent="0">
              <a:spcAft>
                <a:spcPts val="1200"/>
              </a:spcAft>
              <a:buFont typeface="Lato"/>
              <a:buNone/>
            </a:pPr>
            <a:r>
              <a:rPr lang="es" sz="1400" b="1" dirty="0"/>
              <a:t>Figura 2. Distancia media al centro</a:t>
            </a:r>
          </a:p>
        </p:txBody>
      </p:sp>
      <p:pic>
        <p:nvPicPr>
          <p:cNvPr id="6" name="Imagen 5">
            <a:extLst>
              <a:ext uri="{FF2B5EF4-FFF2-40B4-BE49-F238E27FC236}">
                <a16:creationId xmlns:a16="http://schemas.microsoft.com/office/drawing/2014/main" id="{C6ABD9E0-C68D-894D-BA4A-C86F085D5575}"/>
              </a:ext>
            </a:extLst>
          </p:cNvPr>
          <p:cNvPicPr>
            <a:picLocks noChangeAspect="1"/>
          </p:cNvPicPr>
          <p:nvPr/>
        </p:nvPicPr>
        <p:blipFill>
          <a:blip r:embed="rId3"/>
          <a:stretch>
            <a:fillRect/>
          </a:stretch>
        </p:blipFill>
        <p:spPr>
          <a:xfrm>
            <a:off x="1290740" y="1038075"/>
            <a:ext cx="2387309" cy="3763705"/>
          </a:xfrm>
          <a:prstGeom prst="rect">
            <a:avLst/>
          </a:prstGeom>
        </p:spPr>
      </p:pic>
    </p:spTree>
    <p:extLst>
      <p:ext uri="{BB962C8B-B14F-4D97-AF65-F5344CB8AC3E}">
        <p14:creationId xmlns:p14="http://schemas.microsoft.com/office/powerpoint/2010/main" val="3343160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84D21B45-B398-2361-2683-C247EBDDED7C}"/>
            </a:ext>
          </a:extLst>
        </p:cNvPr>
        <p:cNvGrpSpPr/>
        <p:nvPr/>
      </p:nvGrpSpPr>
      <p:grpSpPr>
        <a:xfrm>
          <a:off x="0" y="0"/>
          <a:ext cx="0" cy="0"/>
          <a:chOff x="0" y="0"/>
          <a:chExt cx="0" cy="0"/>
        </a:xfrm>
      </p:grpSpPr>
      <p:sp>
        <p:nvSpPr>
          <p:cNvPr id="155" name="Google Shape;155;p16">
            <a:extLst>
              <a:ext uri="{FF2B5EF4-FFF2-40B4-BE49-F238E27FC236}">
                <a16:creationId xmlns:a16="http://schemas.microsoft.com/office/drawing/2014/main" id="{6BDA1ACD-677D-1397-E7D3-504DFED9CCB4}"/>
              </a:ext>
            </a:extLst>
          </p:cNvPr>
          <p:cNvSpPr txBox="1">
            <a:spLocks noGrp="1"/>
          </p:cNvSpPr>
          <p:nvPr>
            <p:ph type="title"/>
          </p:nvPr>
        </p:nvSpPr>
        <p:spPr>
          <a:xfrm>
            <a:off x="1290740" y="581025"/>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 b="1" dirty="0"/>
              <a:t>2.1 Contexto del Problema</a:t>
            </a:r>
            <a:endParaRPr b="1" dirty="0"/>
          </a:p>
        </p:txBody>
      </p:sp>
      <p:sp>
        <p:nvSpPr>
          <p:cNvPr id="2" name="Google Shape;156;p16">
            <a:extLst>
              <a:ext uri="{FF2B5EF4-FFF2-40B4-BE49-F238E27FC236}">
                <a16:creationId xmlns:a16="http://schemas.microsoft.com/office/drawing/2014/main" id="{AD38B089-35E4-EB5F-26DE-B0E0AEB83902}"/>
              </a:ext>
            </a:extLst>
          </p:cNvPr>
          <p:cNvSpPr txBox="1">
            <a:spLocks noGrp="1"/>
          </p:cNvSpPr>
          <p:nvPr>
            <p:ph type="body" idx="1"/>
          </p:nvPr>
        </p:nvSpPr>
        <p:spPr>
          <a:xfrm>
            <a:off x="1290740" y="1364790"/>
            <a:ext cx="5752611" cy="2911200"/>
          </a:xfrm>
          <a:prstGeom prst="rect">
            <a:avLst/>
          </a:prstGeom>
        </p:spPr>
        <p:txBody>
          <a:bodyPr spcFirstLastPara="1" wrap="square" lIns="91425" tIns="91425" rIns="91425" bIns="91425" anchor="t" anchorCtr="0">
            <a:normAutofit/>
          </a:bodyPr>
          <a:lstStyle/>
          <a:p>
            <a:pPr marL="0" lvl="0" indent="0" rtl="0">
              <a:spcBef>
                <a:spcPts val="0"/>
              </a:spcBef>
              <a:spcAft>
                <a:spcPts val="1200"/>
              </a:spcAft>
              <a:buNone/>
            </a:pPr>
            <a:r>
              <a:rPr lang="es" sz="1400" b="1" dirty="0"/>
              <a:t>En lo que se refiere a los reviews, los inmuebles reciben de media 17 reviews, con una media mensual de 1.29 reviews</a:t>
            </a:r>
          </a:p>
          <a:p>
            <a:pPr marL="0" lvl="0" indent="0" rtl="0">
              <a:spcBef>
                <a:spcPts val="0"/>
              </a:spcBef>
              <a:spcAft>
                <a:spcPts val="1200"/>
              </a:spcAft>
              <a:buNone/>
            </a:pPr>
            <a:r>
              <a:rPr lang="es" sz="1400" b="1" dirty="0"/>
              <a:t>Se han recibido 8 reviews en los últimos 12 meses</a:t>
            </a:r>
          </a:p>
        </p:txBody>
      </p:sp>
      <p:pic>
        <p:nvPicPr>
          <p:cNvPr id="4" name="Imagen 3">
            <a:extLst>
              <a:ext uri="{FF2B5EF4-FFF2-40B4-BE49-F238E27FC236}">
                <a16:creationId xmlns:a16="http://schemas.microsoft.com/office/drawing/2014/main" id="{0E2AA115-757A-9AD0-8845-58F8BF9E1602}"/>
              </a:ext>
            </a:extLst>
          </p:cNvPr>
          <p:cNvPicPr>
            <a:picLocks noChangeAspect="1"/>
          </p:cNvPicPr>
          <p:nvPr/>
        </p:nvPicPr>
        <p:blipFill>
          <a:blip r:embed="rId3"/>
          <a:stretch>
            <a:fillRect/>
          </a:stretch>
        </p:blipFill>
        <p:spPr>
          <a:xfrm>
            <a:off x="2490573" y="2680687"/>
            <a:ext cx="3440670" cy="1935377"/>
          </a:xfrm>
          <a:prstGeom prst="rect">
            <a:avLst/>
          </a:prstGeom>
        </p:spPr>
      </p:pic>
    </p:spTree>
    <p:extLst>
      <p:ext uri="{BB962C8B-B14F-4D97-AF65-F5344CB8AC3E}">
        <p14:creationId xmlns:p14="http://schemas.microsoft.com/office/powerpoint/2010/main" val="4070548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7"/>
          <p:cNvSpPr txBox="1">
            <a:spLocks noGrp="1"/>
          </p:cNvSpPr>
          <p:nvPr>
            <p:ph type="title"/>
          </p:nvPr>
        </p:nvSpPr>
        <p:spPr>
          <a:xfrm>
            <a:off x="1311677" y="598799"/>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 b="1" dirty="0"/>
              <a:t>3. Roadmap</a:t>
            </a:r>
            <a:endParaRPr b="1" dirty="0"/>
          </a:p>
        </p:txBody>
      </p:sp>
      <p:sp>
        <p:nvSpPr>
          <p:cNvPr id="163" name="Google Shape;163;p17"/>
          <p:cNvSpPr/>
          <p:nvPr/>
        </p:nvSpPr>
        <p:spPr>
          <a:xfrm>
            <a:off x="2955200" y="1678556"/>
            <a:ext cx="2180136" cy="266225"/>
          </a:xfrm>
          <a:prstGeom prst="roundRect">
            <a:avLst>
              <a:gd name="adj" fmla="val 16667"/>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algn="ctr"/>
            <a:r>
              <a:rPr lang="es" b="1" dirty="0">
                <a:solidFill>
                  <a:schemeClr val="lt1"/>
                </a:solidFill>
                <a:latin typeface="Lato"/>
                <a:ea typeface="Lato"/>
                <a:cs typeface="Lato"/>
                <a:sym typeface="Lato"/>
              </a:rPr>
              <a:t>Optimización de Precios</a:t>
            </a:r>
            <a:endParaRPr b="1" dirty="0">
              <a:solidFill>
                <a:schemeClr val="lt1"/>
              </a:solidFill>
              <a:latin typeface="Lato"/>
              <a:ea typeface="Lato"/>
              <a:cs typeface="Lato"/>
              <a:sym typeface="Lato"/>
            </a:endParaRPr>
          </a:p>
        </p:txBody>
      </p:sp>
      <p:sp>
        <p:nvSpPr>
          <p:cNvPr id="164" name="Google Shape;164;p17"/>
          <p:cNvSpPr/>
          <p:nvPr/>
        </p:nvSpPr>
        <p:spPr>
          <a:xfrm>
            <a:off x="360610" y="2358382"/>
            <a:ext cx="1404000" cy="252000"/>
          </a:xfrm>
          <a:prstGeom prst="rect">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s" b="1" dirty="0">
                <a:solidFill>
                  <a:schemeClr val="lt1"/>
                </a:solidFill>
                <a:latin typeface="Lato"/>
                <a:ea typeface="Lato"/>
                <a:cs typeface="Lato"/>
                <a:sym typeface="Lato"/>
              </a:rPr>
              <a:t>Hipótesis 1</a:t>
            </a:r>
            <a:endParaRPr b="1" dirty="0">
              <a:solidFill>
                <a:schemeClr val="lt1"/>
              </a:solidFill>
              <a:latin typeface="Lato"/>
              <a:ea typeface="Lato"/>
              <a:cs typeface="Lato"/>
              <a:sym typeface="Lato"/>
            </a:endParaRPr>
          </a:p>
        </p:txBody>
      </p:sp>
      <p:sp>
        <p:nvSpPr>
          <p:cNvPr id="165" name="Google Shape;165;p17"/>
          <p:cNvSpPr/>
          <p:nvPr/>
        </p:nvSpPr>
        <p:spPr>
          <a:xfrm>
            <a:off x="7379390" y="2358982"/>
            <a:ext cx="1404000" cy="252000"/>
          </a:xfrm>
          <a:prstGeom prst="rect">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s" b="1">
                <a:solidFill>
                  <a:schemeClr val="lt1"/>
                </a:solidFill>
                <a:latin typeface="Lato"/>
                <a:ea typeface="Lato"/>
                <a:cs typeface="Lato"/>
                <a:sym typeface="Lato"/>
              </a:rPr>
              <a:t>Hipótesis 5</a:t>
            </a:r>
            <a:endParaRPr b="1">
              <a:solidFill>
                <a:schemeClr val="lt1"/>
              </a:solidFill>
              <a:latin typeface="Lato"/>
              <a:ea typeface="Lato"/>
              <a:cs typeface="Lato"/>
              <a:sym typeface="Lato"/>
            </a:endParaRPr>
          </a:p>
        </p:txBody>
      </p:sp>
      <p:sp>
        <p:nvSpPr>
          <p:cNvPr id="166" name="Google Shape;166;p17"/>
          <p:cNvSpPr/>
          <p:nvPr/>
        </p:nvSpPr>
        <p:spPr>
          <a:xfrm>
            <a:off x="2115305" y="2358982"/>
            <a:ext cx="1404000" cy="252000"/>
          </a:xfrm>
          <a:prstGeom prst="rect">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algn="ctr"/>
            <a:r>
              <a:rPr lang="es" b="1" dirty="0">
                <a:solidFill>
                  <a:schemeClr val="lt1"/>
                </a:solidFill>
                <a:latin typeface="Lato"/>
                <a:ea typeface="Lato"/>
                <a:cs typeface="Lato"/>
                <a:sym typeface="Lato"/>
              </a:rPr>
              <a:t>Hipótesis 2</a:t>
            </a:r>
            <a:endParaRPr b="1" dirty="0">
              <a:solidFill>
                <a:schemeClr val="lt1"/>
              </a:solidFill>
              <a:latin typeface="Lato"/>
              <a:ea typeface="Lato"/>
              <a:cs typeface="Lato"/>
              <a:sym typeface="Lato"/>
            </a:endParaRPr>
          </a:p>
        </p:txBody>
      </p:sp>
      <p:sp>
        <p:nvSpPr>
          <p:cNvPr id="167" name="Google Shape;167;p17"/>
          <p:cNvSpPr/>
          <p:nvPr/>
        </p:nvSpPr>
        <p:spPr>
          <a:xfrm>
            <a:off x="3870000" y="2358982"/>
            <a:ext cx="1404000" cy="252000"/>
          </a:xfrm>
          <a:prstGeom prst="rect">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s" b="1">
                <a:solidFill>
                  <a:schemeClr val="lt1"/>
                </a:solidFill>
                <a:latin typeface="Lato"/>
                <a:ea typeface="Lato"/>
                <a:cs typeface="Lato"/>
                <a:sym typeface="Lato"/>
              </a:rPr>
              <a:t>Hipótesis 3</a:t>
            </a:r>
            <a:endParaRPr b="1">
              <a:solidFill>
                <a:schemeClr val="lt1"/>
              </a:solidFill>
              <a:latin typeface="Lato"/>
              <a:ea typeface="Lato"/>
              <a:cs typeface="Lato"/>
              <a:sym typeface="Lato"/>
            </a:endParaRPr>
          </a:p>
        </p:txBody>
      </p:sp>
      <p:sp>
        <p:nvSpPr>
          <p:cNvPr id="168" name="Google Shape;168;p17"/>
          <p:cNvSpPr/>
          <p:nvPr/>
        </p:nvSpPr>
        <p:spPr>
          <a:xfrm>
            <a:off x="5624695" y="2358982"/>
            <a:ext cx="1404000" cy="252000"/>
          </a:xfrm>
          <a:prstGeom prst="rect">
            <a:avLst/>
          </a:prstGeom>
          <a:solidFill>
            <a:schemeClr val="accen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s" b="1">
                <a:solidFill>
                  <a:schemeClr val="lt1"/>
                </a:solidFill>
                <a:latin typeface="Lato"/>
                <a:ea typeface="Lato"/>
                <a:cs typeface="Lato"/>
                <a:sym typeface="Lato"/>
              </a:rPr>
              <a:t>Hipótesis 4</a:t>
            </a:r>
            <a:endParaRPr b="1">
              <a:solidFill>
                <a:schemeClr val="lt1"/>
              </a:solidFill>
              <a:latin typeface="Lato"/>
              <a:ea typeface="Lato"/>
              <a:cs typeface="Lato"/>
              <a:sym typeface="Lato"/>
            </a:endParaRPr>
          </a:p>
        </p:txBody>
      </p:sp>
      <p:sp>
        <p:nvSpPr>
          <p:cNvPr id="169" name="Google Shape;169;p17"/>
          <p:cNvSpPr txBox="1"/>
          <p:nvPr/>
        </p:nvSpPr>
        <p:spPr>
          <a:xfrm>
            <a:off x="360610" y="2777774"/>
            <a:ext cx="1403999" cy="240930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s" sz="900" dirty="0">
                <a:solidFill>
                  <a:schemeClr val="lt1"/>
                </a:solidFill>
                <a:latin typeface="Lato"/>
                <a:ea typeface="Lato"/>
                <a:cs typeface="Lato"/>
                <a:sym typeface="Lato"/>
              </a:rPr>
              <a:t>La localización del inmueble impacta directamente en su precio.</a:t>
            </a:r>
            <a:endParaRPr sz="900" dirty="0">
              <a:solidFill>
                <a:schemeClr val="lt1"/>
              </a:solidFill>
              <a:latin typeface="Lato"/>
              <a:ea typeface="Lato"/>
              <a:cs typeface="Lato"/>
              <a:sym typeface="Lato"/>
            </a:endParaRPr>
          </a:p>
        </p:txBody>
      </p:sp>
      <p:sp>
        <p:nvSpPr>
          <p:cNvPr id="170" name="Google Shape;170;p17"/>
          <p:cNvSpPr txBox="1"/>
          <p:nvPr/>
        </p:nvSpPr>
        <p:spPr>
          <a:xfrm>
            <a:off x="2115305" y="2769610"/>
            <a:ext cx="1403999" cy="2409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lgn="just">
              <a:buNone/>
              <a:defRPr sz="1100">
                <a:solidFill>
                  <a:schemeClr val="lt1"/>
                </a:solidFill>
                <a:latin typeface="Lato"/>
                <a:ea typeface="Lato"/>
                <a:cs typeface="Lato"/>
              </a:defRPr>
            </a:lvl1pPr>
          </a:lstStyle>
          <a:p>
            <a:pPr algn="l"/>
            <a:r>
              <a:rPr lang="es" sz="900" dirty="0">
                <a:sym typeface="Lato"/>
              </a:rPr>
              <a:t>El precio se ve influenciado por la calidad del Host propietario. </a:t>
            </a:r>
            <a:endParaRPr sz="900" dirty="0">
              <a:sym typeface="Lato"/>
            </a:endParaRPr>
          </a:p>
        </p:txBody>
      </p:sp>
      <p:sp>
        <p:nvSpPr>
          <p:cNvPr id="171" name="Google Shape;171;p17"/>
          <p:cNvSpPr txBox="1"/>
          <p:nvPr/>
        </p:nvSpPr>
        <p:spPr>
          <a:xfrm>
            <a:off x="3870001" y="2758062"/>
            <a:ext cx="1403999" cy="2409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RPr/>
            </a:defPPr>
            <a:lvl1pPr marL="0" indent="0" algn="just">
              <a:buNone/>
              <a:defRPr sz="1100">
                <a:solidFill>
                  <a:schemeClr val="lt1"/>
                </a:solidFill>
                <a:latin typeface="Lato"/>
                <a:ea typeface="Lato"/>
                <a:cs typeface="Lato"/>
              </a:defRPr>
            </a:lvl1pPr>
          </a:lstStyle>
          <a:p>
            <a:pPr algn="l"/>
            <a:r>
              <a:rPr lang="es" sz="900" dirty="0">
                <a:sym typeface="Lato"/>
              </a:rPr>
              <a:t>Las reviews del inmueble aumentan su deseabilidad, su percepción de calidad y su popularidad, llevando a un aumento de su precio.</a:t>
            </a:r>
            <a:endParaRPr sz="900" dirty="0">
              <a:sym typeface="Lato"/>
            </a:endParaRPr>
          </a:p>
        </p:txBody>
      </p:sp>
      <p:sp>
        <p:nvSpPr>
          <p:cNvPr id="172" name="Google Shape;172;p17"/>
          <p:cNvSpPr txBox="1"/>
          <p:nvPr/>
        </p:nvSpPr>
        <p:spPr>
          <a:xfrm>
            <a:off x="5624695" y="2758062"/>
            <a:ext cx="1403999" cy="2409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RPr/>
            </a:defPPr>
            <a:lvl1pPr marL="0" indent="0">
              <a:buNone/>
              <a:defRPr sz="1100">
                <a:solidFill>
                  <a:schemeClr val="lt1"/>
                </a:solidFill>
                <a:latin typeface="Lato"/>
                <a:ea typeface="Lato"/>
                <a:cs typeface="Lato"/>
              </a:defRPr>
            </a:lvl1pPr>
          </a:lstStyle>
          <a:p>
            <a:r>
              <a:rPr lang="es" sz="900" dirty="0">
                <a:sym typeface="Lato"/>
              </a:rPr>
              <a:t>El precio se ve afectado por el nivel de equipamiento y las condiciones del inmueble</a:t>
            </a:r>
            <a:endParaRPr sz="900" dirty="0">
              <a:sym typeface="Lato"/>
            </a:endParaRPr>
          </a:p>
        </p:txBody>
      </p:sp>
      <p:sp>
        <p:nvSpPr>
          <p:cNvPr id="3" name="Google Shape;171;p17">
            <a:extLst>
              <a:ext uri="{FF2B5EF4-FFF2-40B4-BE49-F238E27FC236}">
                <a16:creationId xmlns:a16="http://schemas.microsoft.com/office/drawing/2014/main" id="{48BA6DF7-C446-8486-AD51-A60686227A1A}"/>
              </a:ext>
            </a:extLst>
          </p:cNvPr>
          <p:cNvSpPr txBox="1"/>
          <p:nvPr/>
        </p:nvSpPr>
        <p:spPr>
          <a:xfrm>
            <a:off x="7379389" y="2758062"/>
            <a:ext cx="1404001" cy="2409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RPr/>
            </a:defPPr>
            <a:lvl1pPr marL="0" indent="0" algn="just">
              <a:buNone/>
              <a:defRPr sz="1100">
                <a:solidFill>
                  <a:schemeClr val="lt1"/>
                </a:solidFill>
                <a:latin typeface="Lato"/>
                <a:ea typeface="Lato"/>
                <a:cs typeface="Lato"/>
              </a:defRPr>
            </a:lvl1pPr>
          </a:lstStyle>
          <a:p>
            <a:pPr algn="l"/>
            <a:r>
              <a:rPr lang="es" sz="900" dirty="0">
                <a:sym typeface="Lato"/>
              </a:rPr>
              <a:t>Una mayor flexibilidad en las políticas de reserva, aumentaría la deseabilidad y demanda del inmueble, viéndose afectado el precio</a:t>
            </a:r>
            <a:endParaRPr sz="900" dirty="0">
              <a:sym typeface="Lato"/>
            </a:endParaRPr>
          </a:p>
        </p:txBody>
      </p:sp>
      <p:cxnSp>
        <p:nvCxnSpPr>
          <p:cNvPr id="5" name="Conector recto de flecha 4">
            <a:extLst>
              <a:ext uri="{FF2B5EF4-FFF2-40B4-BE49-F238E27FC236}">
                <a16:creationId xmlns:a16="http://schemas.microsoft.com/office/drawing/2014/main" id="{5887E72F-8E84-6389-EAB4-EB60731A3C6A}"/>
              </a:ext>
            </a:extLst>
          </p:cNvPr>
          <p:cNvCxnSpPr>
            <a:cxnSpLocks/>
            <a:stCxn id="163" idx="2"/>
            <a:endCxn id="164" idx="0"/>
          </p:cNvCxnSpPr>
          <p:nvPr/>
        </p:nvCxnSpPr>
        <p:spPr>
          <a:xfrm flipH="1">
            <a:off x="1062610" y="1944781"/>
            <a:ext cx="2982658" cy="41360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 name="Conector recto de flecha 6">
            <a:extLst>
              <a:ext uri="{FF2B5EF4-FFF2-40B4-BE49-F238E27FC236}">
                <a16:creationId xmlns:a16="http://schemas.microsoft.com/office/drawing/2014/main" id="{39F7DDC2-10E4-8FDA-974C-7E06677F997B}"/>
              </a:ext>
            </a:extLst>
          </p:cNvPr>
          <p:cNvCxnSpPr>
            <a:cxnSpLocks/>
            <a:stCxn id="163" idx="2"/>
            <a:endCxn id="166" idx="0"/>
          </p:cNvCxnSpPr>
          <p:nvPr/>
        </p:nvCxnSpPr>
        <p:spPr>
          <a:xfrm flipH="1">
            <a:off x="2817305" y="1944781"/>
            <a:ext cx="1227963" cy="41420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9" name="Conector recto de flecha 8">
            <a:extLst>
              <a:ext uri="{FF2B5EF4-FFF2-40B4-BE49-F238E27FC236}">
                <a16:creationId xmlns:a16="http://schemas.microsoft.com/office/drawing/2014/main" id="{5B8A231F-CAA0-EA1A-6687-B9ADBD560D0E}"/>
              </a:ext>
            </a:extLst>
          </p:cNvPr>
          <p:cNvCxnSpPr>
            <a:cxnSpLocks/>
            <a:stCxn id="163" idx="2"/>
            <a:endCxn id="167" idx="0"/>
          </p:cNvCxnSpPr>
          <p:nvPr/>
        </p:nvCxnSpPr>
        <p:spPr>
          <a:xfrm>
            <a:off x="4045268" y="1944781"/>
            <a:ext cx="526732" cy="41420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 name="Conector recto de flecha 10">
            <a:extLst>
              <a:ext uri="{FF2B5EF4-FFF2-40B4-BE49-F238E27FC236}">
                <a16:creationId xmlns:a16="http://schemas.microsoft.com/office/drawing/2014/main" id="{1ED5B3A2-221E-B555-7FD7-29A53187893E}"/>
              </a:ext>
            </a:extLst>
          </p:cNvPr>
          <p:cNvCxnSpPr>
            <a:cxnSpLocks/>
            <a:stCxn id="163" idx="2"/>
            <a:endCxn id="168" idx="0"/>
          </p:cNvCxnSpPr>
          <p:nvPr/>
        </p:nvCxnSpPr>
        <p:spPr>
          <a:xfrm>
            <a:off x="4045268" y="1944781"/>
            <a:ext cx="2281427" cy="41420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Conector recto de flecha 12">
            <a:extLst>
              <a:ext uri="{FF2B5EF4-FFF2-40B4-BE49-F238E27FC236}">
                <a16:creationId xmlns:a16="http://schemas.microsoft.com/office/drawing/2014/main" id="{DB8A1867-6BC8-3009-73C1-28F8CC20073B}"/>
              </a:ext>
            </a:extLst>
          </p:cNvPr>
          <p:cNvCxnSpPr>
            <a:cxnSpLocks/>
            <a:stCxn id="163" idx="2"/>
            <a:endCxn id="165" idx="0"/>
          </p:cNvCxnSpPr>
          <p:nvPr/>
        </p:nvCxnSpPr>
        <p:spPr>
          <a:xfrm>
            <a:off x="4045268" y="1944781"/>
            <a:ext cx="4036122" cy="41420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 b="1" dirty="0"/>
              <a:t>4. Análisis</a:t>
            </a:r>
            <a:endParaRPr b="1" dirty="0"/>
          </a:p>
        </p:txBody>
      </p:sp>
      <p:sp>
        <p:nvSpPr>
          <p:cNvPr id="2" name="Google Shape;191;p19">
            <a:extLst>
              <a:ext uri="{FF2B5EF4-FFF2-40B4-BE49-F238E27FC236}">
                <a16:creationId xmlns:a16="http://schemas.microsoft.com/office/drawing/2014/main" id="{F1F5A2F8-1960-6FD9-695E-C62819E5E3A5}"/>
              </a:ext>
            </a:extLst>
          </p:cNvPr>
          <p:cNvSpPr txBox="1">
            <a:spLocks/>
          </p:cNvSpPr>
          <p:nvPr/>
        </p:nvSpPr>
        <p:spPr>
          <a:xfrm>
            <a:off x="1297500" y="850800"/>
            <a:ext cx="7038900" cy="914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9pPr>
          </a:lstStyle>
          <a:p>
            <a:r>
              <a:rPr lang="es-ES" sz="1600" b="1" dirty="0"/>
              <a:t>Hipótesis 1 – Localización y Precio</a:t>
            </a:r>
          </a:p>
        </p:txBody>
      </p:sp>
      <p:sp>
        <p:nvSpPr>
          <p:cNvPr id="3" name="CuadroTexto 2">
            <a:extLst>
              <a:ext uri="{FF2B5EF4-FFF2-40B4-BE49-F238E27FC236}">
                <a16:creationId xmlns:a16="http://schemas.microsoft.com/office/drawing/2014/main" id="{35B18D80-C522-0A9A-68A3-9335BBE20788}"/>
              </a:ext>
            </a:extLst>
          </p:cNvPr>
          <p:cNvSpPr txBox="1"/>
          <p:nvPr/>
        </p:nvSpPr>
        <p:spPr>
          <a:xfrm>
            <a:off x="3845973" y="1719683"/>
            <a:ext cx="4441371" cy="1169551"/>
          </a:xfrm>
          <a:prstGeom prst="rect">
            <a:avLst/>
          </a:prstGeom>
          <a:noFill/>
        </p:spPr>
        <p:txBody>
          <a:bodyPr wrap="square" rtlCol="0">
            <a:spAutoFit/>
          </a:bodyPr>
          <a:lstStyle/>
          <a:p>
            <a:r>
              <a:rPr lang="es-ES" b="1" dirty="0">
                <a:solidFill>
                  <a:schemeClr val="bg1"/>
                </a:solidFill>
              </a:rPr>
              <a:t>Figura 1.</a:t>
            </a:r>
          </a:p>
          <a:p>
            <a:r>
              <a:rPr lang="es-ES" dirty="0">
                <a:solidFill>
                  <a:schemeClr val="bg1"/>
                </a:solidFill>
              </a:rPr>
              <a:t>Distancia a Sol media: 5.73 KM</a:t>
            </a:r>
          </a:p>
          <a:p>
            <a:r>
              <a:rPr lang="es-ES" dirty="0">
                <a:solidFill>
                  <a:schemeClr val="bg1"/>
                </a:solidFill>
              </a:rPr>
              <a:t>Relación top 10 distritos con sus inmuebles y su precio en base a su distancia a Sol.</a:t>
            </a:r>
          </a:p>
          <a:p>
            <a:r>
              <a:rPr lang="es-ES" dirty="0" err="1">
                <a:solidFill>
                  <a:schemeClr val="bg1"/>
                </a:solidFill>
              </a:rPr>
              <a:t>Corr</a:t>
            </a:r>
            <a:r>
              <a:rPr lang="es-ES" dirty="0">
                <a:solidFill>
                  <a:schemeClr val="bg1"/>
                </a:solidFill>
              </a:rPr>
              <a:t> Spearman = -0,11</a:t>
            </a:r>
          </a:p>
        </p:txBody>
      </p:sp>
      <p:pic>
        <p:nvPicPr>
          <p:cNvPr id="4" name="Imagen 3">
            <a:extLst>
              <a:ext uri="{FF2B5EF4-FFF2-40B4-BE49-F238E27FC236}">
                <a16:creationId xmlns:a16="http://schemas.microsoft.com/office/drawing/2014/main" id="{8959C7FF-2575-DC28-891A-C478304FE7E1}"/>
              </a:ext>
            </a:extLst>
          </p:cNvPr>
          <p:cNvPicPr>
            <a:picLocks noChangeAspect="1"/>
          </p:cNvPicPr>
          <p:nvPr/>
        </p:nvPicPr>
        <p:blipFill>
          <a:blip r:embed="rId3"/>
          <a:stretch>
            <a:fillRect/>
          </a:stretch>
        </p:blipFill>
        <p:spPr>
          <a:xfrm>
            <a:off x="1297500" y="1339815"/>
            <a:ext cx="2499418" cy="1781939"/>
          </a:xfrm>
          <a:prstGeom prst="rect">
            <a:avLst/>
          </a:prstGeom>
        </p:spPr>
      </p:pic>
      <p:pic>
        <p:nvPicPr>
          <p:cNvPr id="5" name="Imagen 4">
            <a:extLst>
              <a:ext uri="{FF2B5EF4-FFF2-40B4-BE49-F238E27FC236}">
                <a16:creationId xmlns:a16="http://schemas.microsoft.com/office/drawing/2014/main" id="{53AFC1F9-0F38-7ECA-AF2A-23D5FB856E48}"/>
              </a:ext>
            </a:extLst>
          </p:cNvPr>
          <p:cNvPicPr>
            <a:picLocks noChangeAspect="1"/>
          </p:cNvPicPr>
          <p:nvPr/>
        </p:nvPicPr>
        <p:blipFill>
          <a:blip r:embed="rId4"/>
          <a:stretch>
            <a:fillRect/>
          </a:stretch>
        </p:blipFill>
        <p:spPr>
          <a:xfrm>
            <a:off x="1297413" y="3300887"/>
            <a:ext cx="2499505" cy="1782000"/>
          </a:xfrm>
          <a:prstGeom prst="rect">
            <a:avLst/>
          </a:prstGeom>
        </p:spPr>
      </p:pic>
      <p:sp>
        <p:nvSpPr>
          <p:cNvPr id="6" name="CuadroTexto 5">
            <a:extLst>
              <a:ext uri="{FF2B5EF4-FFF2-40B4-BE49-F238E27FC236}">
                <a16:creationId xmlns:a16="http://schemas.microsoft.com/office/drawing/2014/main" id="{501EE47F-A9BA-F0AC-BD6B-927A48A3BC6D}"/>
              </a:ext>
            </a:extLst>
          </p:cNvPr>
          <p:cNvSpPr txBox="1"/>
          <p:nvPr/>
        </p:nvSpPr>
        <p:spPr>
          <a:xfrm>
            <a:off x="3796918" y="3582681"/>
            <a:ext cx="4441371" cy="1169551"/>
          </a:xfrm>
          <a:prstGeom prst="rect">
            <a:avLst/>
          </a:prstGeom>
          <a:noFill/>
        </p:spPr>
        <p:txBody>
          <a:bodyPr wrap="square" rtlCol="0">
            <a:spAutoFit/>
          </a:bodyPr>
          <a:lstStyle/>
          <a:p>
            <a:r>
              <a:rPr lang="es-ES" b="1" dirty="0">
                <a:solidFill>
                  <a:schemeClr val="bg1"/>
                </a:solidFill>
              </a:rPr>
              <a:t>Figura 2.</a:t>
            </a:r>
          </a:p>
          <a:p>
            <a:r>
              <a:rPr lang="es-ES" dirty="0">
                <a:solidFill>
                  <a:schemeClr val="bg1"/>
                </a:solidFill>
              </a:rPr>
              <a:t>Distancia al aeropuerto media:13.47 KM</a:t>
            </a:r>
          </a:p>
          <a:p>
            <a:r>
              <a:rPr lang="es-ES" dirty="0">
                <a:solidFill>
                  <a:schemeClr val="bg1"/>
                </a:solidFill>
              </a:rPr>
              <a:t>Relación top 10 distritos con sus inmuebles y su precio en base a la distancia al aeropuerto.</a:t>
            </a:r>
          </a:p>
          <a:p>
            <a:r>
              <a:rPr lang="es-ES" dirty="0" err="1">
                <a:solidFill>
                  <a:schemeClr val="bg1"/>
                </a:solidFill>
              </a:rPr>
              <a:t>Corr</a:t>
            </a:r>
            <a:r>
              <a:rPr lang="es-ES" dirty="0">
                <a:solidFill>
                  <a:schemeClr val="bg1"/>
                </a:solidFill>
              </a:rPr>
              <a:t> Spearman = -0,10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4E81A615-60DD-8795-7504-ECC530D3CD73}"/>
            </a:ext>
          </a:extLst>
        </p:cNvPr>
        <p:cNvGrpSpPr/>
        <p:nvPr/>
      </p:nvGrpSpPr>
      <p:grpSpPr>
        <a:xfrm>
          <a:off x="0" y="0"/>
          <a:ext cx="0" cy="0"/>
          <a:chOff x="0" y="0"/>
          <a:chExt cx="0" cy="0"/>
        </a:xfrm>
      </p:grpSpPr>
      <p:sp>
        <p:nvSpPr>
          <p:cNvPr id="2" name="Google Shape;191;p19">
            <a:extLst>
              <a:ext uri="{FF2B5EF4-FFF2-40B4-BE49-F238E27FC236}">
                <a16:creationId xmlns:a16="http://schemas.microsoft.com/office/drawing/2014/main" id="{3A470942-505B-3411-3205-CE977A576A04}"/>
              </a:ext>
            </a:extLst>
          </p:cNvPr>
          <p:cNvSpPr txBox="1">
            <a:spLocks/>
          </p:cNvSpPr>
          <p:nvPr/>
        </p:nvSpPr>
        <p:spPr>
          <a:xfrm>
            <a:off x="1354690" y="293667"/>
            <a:ext cx="7038900" cy="914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9pPr>
          </a:lstStyle>
          <a:p>
            <a:r>
              <a:rPr lang="es-ES" sz="1600" b="1" dirty="0"/>
              <a:t>Hipótesis 2 – Tipo de Host y Precio</a:t>
            </a:r>
          </a:p>
        </p:txBody>
      </p:sp>
      <p:sp>
        <p:nvSpPr>
          <p:cNvPr id="3" name="CuadroTexto 2">
            <a:extLst>
              <a:ext uri="{FF2B5EF4-FFF2-40B4-BE49-F238E27FC236}">
                <a16:creationId xmlns:a16="http://schemas.microsoft.com/office/drawing/2014/main" id="{D91FB7AF-B6E6-FFB3-407C-5249E1871F5A}"/>
              </a:ext>
            </a:extLst>
          </p:cNvPr>
          <p:cNvSpPr txBox="1"/>
          <p:nvPr/>
        </p:nvSpPr>
        <p:spPr>
          <a:xfrm>
            <a:off x="3845973" y="1719683"/>
            <a:ext cx="4441371" cy="738664"/>
          </a:xfrm>
          <a:prstGeom prst="rect">
            <a:avLst/>
          </a:prstGeom>
          <a:noFill/>
        </p:spPr>
        <p:txBody>
          <a:bodyPr wrap="square" rtlCol="0">
            <a:spAutoFit/>
          </a:bodyPr>
          <a:lstStyle/>
          <a:p>
            <a:r>
              <a:rPr lang="es-ES" b="1" dirty="0">
                <a:solidFill>
                  <a:schemeClr val="bg1"/>
                </a:solidFill>
              </a:rPr>
              <a:t>Figura 1.</a:t>
            </a:r>
          </a:p>
          <a:p>
            <a:r>
              <a:rPr lang="es-ES" dirty="0">
                <a:solidFill>
                  <a:schemeClr val="bg1"/>
                </a:solidFill>
              </a:rPr>
              <a:t>Relación entre el precio y el hecho de que el host es considerado </a:t>
            </a:r>
            <a:r>
              <a:rPr lang="es-ES" dirty="0" err="1">
                <a:solidFill>
                  <a:schemeClr val="bg1"/>
                </a:solidFill>
              </a:rPr>
              <a:t>SuperHost</a:t>
            </a:r>
            <a:r>
              <a:rPr lang="es-ES" dirty="0">
                <a:solidFill>
                  <a:schemeClr val="bg1"/>
                </a:solidFill>
              </a:rPr>
              <a:t>.</a:t>
            </a:r>
          </a:p>
        </p:txBody>
      </p:sp>
      <p:sp>
        <p:nvSpPr>
          <p:cNvPr id="6" name="CuadroTexto 5">
            <a:extLst>
              <a:ext uri="{FF2B5EF4-FFF2-40B4-BE49-F238E27FC236}">
                <a16:creationId xmlns:a16="http://schemas.microsoft.com/office/drawing/2014/main" id="{10DC4FDF-295A-81DA-7573-58361CBC94FC}"/>
              </a:ext>
            </a:extLst>
          </p:cNvPr>
          <p:cNvSpPr txBox="1"/>
          <p:nvPr/>
        </p:nvSpPr>
        <p:spPr>
          <a:xfrm>
            <a:off x="3796918" y="3582681"/>
            <a:ext cx="4441371" cy="738664"/>
          </a:xfrm>
          <a:prstGeom prst="rect">
            <a:avLst/>
          </a:prstGeom>
          <a:noFill/>
        </p:spPr>
        <p:txBody>
          <a:bodyPr wrap="square" rtlCol="0">
            <a:spAutoFit/>
          </a:bodyPr>
          <a:lstStyle/>
          <a:p>
            <a:r>
              <a:rPr lang="es-ES" b="1" dirty="0">
                <a:solidFill>
                  <a:schemeClr val="bg1"/>
                </a:solidFill>
              </a:rPr>
              <a:t>Figura 2.</a:t>
            </a:r>
          </a:p>
          <a:p>
            <a:r>
              <a:rPr lang="es-ES" dirty="0">
                <a:solidFill>
                  <a:schemeClr val="bg1"/>
                </a:solidFill>
              </a:rPr>
              <a:t>Relación entre el tiempo de respuesta medio y el precio.</a:t>
            </a:r>
          </a:p>
        </p:txBody>
      </p:sp>
      <p:pic>
        <p:nvPicPr>
          <p:cNvPr id="9" name="Imagen 8">
            <a:extLst>
              <a:ext uri="{FF2B5EF4-FFF2-40B4-BE49-F238E27FC236}">
                <a16:creationId xmlns:a16="http://schemas.microsoft.com/office/drawing/2014/main" id="{7B048107-C7FF-EA42-8E5C-3966B58FB5C5}"/>
              </a:ext>
            </a:extLst>
          </p:cNvPr>
          <p:cNvPicPr>
            <a:picLocks noChangeAspect="1"/>
          </p:cNvPicPr>
          <p:nvPr/>
        </p:nvPicPr>
        <p:blipFill>
          <a:blip r:embed="rId3"/>
          <a:stretch>
            <a:fillRect/>
          </a:stretch>
        </p:blipFill>
        <p:spPr>
          <a:xfrm>
            <a:off x="1346468" y="1346236"/>
            <a:ext cx="2499505" cy="1782000"/>
          </a:xfrm>
          <a:prstGeom prst="rect">
            <a:avLst/>
          </a:prstGeom>
        </p:spPr>
      </p:pic>
      <p:pic>
        <p:nvPicPr>
          <p:cNvPr id="10" name="Imagen 9">
            <a:extLst>
              <a:ext uri="{FF2B5EF4-FFF2-40B4-BE49-F238E27FC236}">
                <a16:creationId xmlns:a16="http://schemas.microsoft.com/office/drawing/2014/main" id="{B19D5365-59C0-1190-64BC-652E69EE1136}"/>
              </a:ext>
            </a:extLst>
          </p:cNvPr>
          <p:cNvPicPr>
            <a:picLocks noChangeAspect="1"/>
          </p:cNvPicPr>
          <p:nvPr/>
        </p:nvPicPr>
        <p:blipFill>
          <a:blip r:embed="rId4"/>
          <a:stretch>
            <a:fillRect/>
          </a:stretch>
        </p:blipFill>
        <p:spPr>
          <a:xfrm>
            <a:off x="1354690" y="3266705"/>
            <a:ext cx="2491283" cy="1782000"/>
          </a:xfrm>
          <a:prstGeom prst="rect">
            <a:avLst/>
          </a:prstGeom>
        </p:spPr>
      </p:pic>
    </p:spTree>
    <p:extLst>
      <p:ext uri="{BB962C8B-B14F-4D97-AF65-F5344CB8AC3E}">
        <p14:creationId xmlns:p14="http://schemas.microsoft.com/office/powerpoint/2010/main" val="2670827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3CF85F59-D50E-85B5-0721-4A02F0C5371C}"/>
            </a:ext>
          </a:extLst>
        </p:cNvPr>
        <p:cNvGrpSpPr/>
        <p:nvPr/>
      </p:nvGrpSpPr>
      <p:grpSpPr>
        <a:xfrm>
          <a:off x="0" y="0"/>
          <a:ext cx="0" cy="0"/>
          <a:chOff x="0" y="0"/>
          <a:chExt cx="0" cy="0"/>
        </a:xfrm>
      </p:grpSpPr>
      <p:sp>
        <p:nvSpPr>
          <p:cNvPr id="2" name="Google Shape;191;p19">
            <a:extLst>
              <a:ext uri="{FF2B5EF4-FFF2-40B4-BE49-F238E27FC236}">
                <a16:creationId xmlns:a16="http://schemas.microsoft.com/office/drawing/2014/main" id="{BF81F54C-DC25-4408-C2BE-364967413CBF}"/>
              </a:ext>
            </a:extLst>
          </p:cNvPr>
          <p:cNvSpPr txBox="1">
            <a:spLocks/>
          </p:cNvSpPr>
          <p:nvPr/>
        </p:nvSpPr>
        <p:spPr>
          <a:xfrm>
            <a:off x="1473200" y="207447"/>
            <a:ext cx="7038900" cy="914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9pPr>
          </a:lstStyle>
          <a:p>
            <a:r>
              <a:rPr lang="es-ES" sz="1600" b="1" dirty="0"/>
              <a:t>Hipótesis 2 – Tipo de Host y Precio</a:t>
            </a:r>
          </a:p>
        </p:txBody>
      </p:sp>
      <p:sp>
        <p:nvSpPr>
          <p:cNvPr id="3" name="CuadroTexto 2">
            <a:extLst>
              <a:ext uri="{FF2B5EF4-FFF2-40B4-BE49-F238E27FC236}">
                <a16:creationId xmlns:a16="http://schemas.microsoft.com/office/drawing/2014/main" id="{AB3295DC-69ED-EA09-017B-67140AC9F171}"/>
              </a:ext>
            </a:extLst>
          </p:cNvPr>
          <p:cNvSpPr txBox="1"/>
          <p:nvPr/>
        </p:nvSpPr>
        <p:spPr>
          <a:xfrm>
            <a:off x="1473200" y="598327"/>
            <a:ext cx="5797550" cy="307777"/>
          </a:xfrm>
          <a:prstGeom prst="rect">
            <a:avLst/>
          </a:prstGeom>
          <a:noFill/>
        </p:spPr>
        <p:txBody>
          <a:bodyPr wrap="square" rtlCol="0">
            <a:spAutoFit/>
          </a:bodyPr>
          <a:lstStyle/>
          <a:p>
            <a:r>
              <a:rPr lang="es-ES" b="1" dirty="0">
                <a:solidFill>
                  <a:schemeClr val="bg1"/>
                </a:solidFill>
              </a:rPr>
              <a:t>Figura 3. Relación entre la antigüedad del Host y el precio</a:t>
            </a:r>
            <a:endParaRPr lang="es-ES" dirty="0">
              <a:solidFill>
                <a:schemeClr val="bg1"/>
              </a:solidFill>
            </a:endParaRPr>
          </a:p>
        </p:txBody>
      </p:sp>
      <p:pic>
        <p:nvPicPr>
          <p:cNvPr id="4" name="Imagen 3">
            <a:extLst>
              <a:ext uri="{FF2B5EF4-FFF2-40B4-BE49-F238E27FC236}">
                <a16:creationId xmlns:a16="http://schemas.microsoft.com/office/drawing/2014/main" id="{B4A01336-3FA1-CB33-BF71-8D96FFDE740B}"/>
              </a:ext>
            </a:extLst>
          </p:cNvPr>
          <p:cNvPicPr>
            <a:picLocks noChangeAspect="1"/>
          </p:cNvPicPr>
          <p:nvPr/>
        </p:nvPicPr>
        <p:blipFill>
          <a:blip r:embed="rId3"/>
          <a:stretch>
            <a:fillRect/>
          </a:stretch>
        </p:blipFill>
        <p:spPr>
          <a:xfrm>
            <a:off x="1473200" y="1087953"/>
            <a:ext cx="5397500" cy="3848100"/>
          </a:xfrm>
          <a:prstGeom prst="rect">
            <a:avLst/>
          </a:prstGeom>
        </p:spPr>
      </p:pic>
    </p:spTree>
    <p:extLst>
      <p:ext uri="{BB962C8B-B14F-4D97-AF65-F5344CB8AC3E}">
        <p14:creationId xmlns:p14="http://schemas.microsoft.com/office/powerpoint/2010/main" val="1438028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2B0E93FF-4400-6124-1451-1E1E50E64059}"/>
            </a:ext>
          </a:extLst>
        </p:cNvPr>
        <p:cNvGrpSpPr/>
        <p:nvPr/>
      </p:nvGrpSpPr>
      <p:grpSpPr>
        <a:xfrm>
          <a:off x="0" y="0"/>
          <a:ext cx="0" cy="0"/>
          <a:chOff x="0" y="0"/>
          <a:chExt cx="0" cy="0"/>
        </a:xfrm>
      </p:grpSpPr>
      <p:sp>
        <p:nvSpPr>
          <p:cNvPr id="2" name="Google Shape;191;p19">
            <a:extLst>
              <a:ext uri="{FF2B5EF4-FFF2-40B4-BE49-F238E27FC236}">
                <a16:creationId xmlns:a16="http://schemas.microsoft.com/office/drawing/2014/main" id="{6CC84719-E4A4-9C08-A3F9-A2B0C058FF4B}"/>
              </a:ext>
            </a:extLst>
          </p:cNvPr>
          <p:cNvSpPr txBox="1">
            <a:spLocks/>
          </p:cNvSpPr>
          <p:nvPr/>
        </p:nvSpPr>
        <p:spPr>
          <a:xfrm>
            <a:off x="1338251" y="205821"/>
            <a:ext cx="7038900" cy="914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9pPr>
          </a:lstStyle>
          <a:p>
            <a:r>
              <a:rPr lang="es-ES" sz="1600" b="1" dirty="0"/>
              <a:t>Hipótesis 3 – Efecto de las </a:t>
            </a:r>
            <a:r>
              <a:rPr lang="es-ES" sz="1600" b="1" dirty="0" err="1"/>
              <a:t>Reviews</a:t>
            </a:r>
            <a:r>
              <a:rPr lang="es-ES" sz="1600" b="1" dirty="0"/>
              <a:t> en el Precio</a:t>
            </a:r>
          </a:p>
        </p:txBody>
      </p:sp>
      <p:sp>
        <p:nvSpPr>
          <p:cNvPr id="3" name="CuadroTexto 2">
            <a:extLst>
              <a:ext uri="{FF2B5EF4-FFF2-40B4-BE49-F238E27FC236}">
                <a16:creationId xmlns:a16="http://schemas.microsoft.com/office/drawing/2014/main" id="{3E73E4BE-4847-59E2-6218-77E647C63E58}"/>
              </a:ext>
            </a:extLst>
          </p:cNvPr>
          <p:cNvSpPr txBox="1"/>
          <p:nvPr/>
        </p:nvSpPr>
        <p:spPr>
          <a:xfrm>
            <a:off x="1338251" y="596701"/>
            <a:ext cx="5266656" cy="523220"/>
          </a:xfrm>
          <a:prstGeom prst="rect">
            <a:avLst/>
          </a:prstGeom>
          <a:noFill/>
        </p:spPr>
        <p:txBody>
          <a:bodyPr wrap="square" rtlCol="0">
            <a:spAutoFit/>
          </a:bodyPr>
          <a:lstStyle/>
          <a:p>
            <a:r>
              <a:rPr lang="es-ES" b="1" dirty="0">
                <a:solidFill>
                  <a:schemeClr val="bg1"/>
                </a:solidFill>
              </a:rPr>
              <a:t>Figura 1.</a:t>
            </a:r>
          </a:p>
          <a:p>
            <a:r>
              <a:rPr lang="es-ES" dirty="0">
                <a:solidFill>
                  <a:schemeClr val="bg1"/>
                </a:solidFill>
              </a:rPr>
              <a:t>Relación entre el número de </a:t>
            </a:r>
            <a:r>
              <a:rPr lang="es-ES" dirty="0" err="1">
                <a:solidFill>
                  <a:schemeClr val="bg1"/>
                </a:solidFill>
              </a:rPr>
              <a:t>Reviews</a:t>
            </a:r>
            <a:r>
              <a:rPr lang="es-ES" dirty="0">
                <a:solidFill>
                  <a:schemeClr val="bg1"/>
                </a:solidFill>
              </a:rPr>
              <a:t> recibidos y el precio</a:t>
            </a:r>
          </a:p>
        </p:txBody>
      </p:sp>
      <p:pic>
        <p:nvPicPr>
          <p:cNvPr id="4" name="Imagen 3">
            <a:extLst>
              <a:ext uri="{FF2B5EF4-FFF2-40B4-BE49-F238E27FC236}">
                <a16:creationId xmlns:a16="http://schemas.microsoft.com/office/drawing/2014/main" id="{2DE6BB35-4162-67CA-59E4-C5EEE91A6A93}"/>
              </a:ext>
            </a:extLst>
          </p:cNvPr>
          <p:cNvPicPr>
            <a:picLocks noChangeAspect="1"/>
          </p:cNvPicPr>
          <p:nvPr/>
        </p:nvPicPr>
        <p:blipFill>
          <a:blip r:embed="rId3"/>
          <a:stretch>
            <a:fillRect/>
          </a:stretch>
        </p:blipFill>
        <p:spPr>
          <a:xfrm>
            <a:off x="1718128" y="1194707"/>
            <a:ext cx="5397500" cy="3848100"/>
          </a:xfrm>
          <a:prstGeom prst="rect">
            <a:avLst/>
          </a:prstGeom>
        </p:spPr>
      </p:pic>
    </p:spTree>
    <p:extLst>
      <p:ext uri="{BB962C8B-B14F-4D97-AF65-F5344CB8AC3E}">
        <p14:creationId xmlns:p14="http://schemas.microsoft.com/office/powerpoint/2010/main" val="374496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F749058C-F3F5-2B0A-DE89-9F243B2B26E0}"/>
            </a:ext>
          </a:extLst>
        </p:cNvPr>
        <p:cNvGrpSpPr/>
        <p:nvPr/>
      </p:nvGrpSpPr>
      <p:grpSpPr>
        <a:xfrm>
          <a:off x="0" y="0"/>
          <a:ext cx="0" cy="0"/>
          <a:chOff x="0" y="0"/>
          <a:chExt cx="0" cy="0"/>
        </a:xfrm>
      </p:grpSpPr>
      <p:sp>
        <p:nvSpPr>
          <p:cNvPr id="2" name="Google Shape;191;p19">
            <a:extLst>
              <a:ext uri="{FF2B5EF4-FFF2-40B4-BE49-F238E27FC236}">
                <a16:creationId xmlns:a16="http://schemas.microsoft.com/office/drawing/2014/main" id="{8D35CA48-3E1E-B19E-2099-A677787A3615}"/>
              </a:ext>
            </a:extLst>
          </p:cNvPr>
          <p:cNvSpPr txBox="1">
            <a:spLocks/>
          </p:cNvSpPr>
          <p:nvPr/>
        </p:nvSpPr>
        <p:spPr>
          <a:xfrm>
            <a:off x="1338251" y="205821"/>
            <a:ext cx="7038900" cy="914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9pPr>
          </a:lstStyle>
          <a:p>
            <a:r>
              <a:rPr lang="es-ES" sz="1600" b="1" dirty="0"/>
              <a:t>Hipótesis 3 – Efecto de las </a:t>
            </a:r>
            <a:r>
              <a:rPr lang="es-ES" sz="1600" b="1" dirty="0" err="1"/>
              <a:t>Reviews</a:t>
            </a:r>
            <a:r>
              <a:rPr lang="es-ES" sz="1600" b="1" dirty="0"/>
              <a:t> en el Precio</a:t>
            </a:r>
          </a:p>
        </p:txBody>
      </p:sp>
      <p:sp>
        <p:nvSpPr>
          <p:cNvPr id="3" name="CuadroTexto 2">
            <a:extLst>
              <a:ext uri="{FF2B5EF4-FFF2-40B4-BE49-F238E27FC236}">
                <a16:creationId xmlns:a16="http://schemas.microsoft.com/office/drawing/2014/main" id="{00B43A72-2082-68E0-062A-13BD5F31D457}"/>
              </a:ext>
            </a:extLst>
          </p:cNvPr>
          <p:cNvSpPr txBox="1"/>
          <p:nvPr/>
        </p:nvSpPr>
        <p:spPr>
          <a:xfrm>
            <a:off x="1338251" y="596701"/>
            <a:ext cx="5266656" cy="523220"/>
          </a:xfrm>
          <a:prstGeom prst="rect">
            <a:avLst/>
          </a:prstGeom>
          <a:noFill/>
        </p:spPr>
        <p:txBody>
          <a:bodyPr wrap="square" rtlCol="0">
            <a:spAutoFit/>
          </a:bodyPr>
          <a:lstStyle/>
          <a:p>
            <a:r>
              <a:rPr lang="es-ES" b="1" dirty="0">
                <a:solidFill>
                  <a:schemeClr val="bg1"/>
                </a:solidFill>
              </a:rPr>
              <a:t>Figura 2.</a:t>
            </a:r>
          </a:p>
          <a:p>
            <a:r>
              <a:rPr lang="es-ES" dirty="0">
                <a:solidFill>
                  <a:schemeClr val="bg1"/>
                </a:solidFill>
              </a:rPr>
              <a:t>Relación entre la valoración total* recibida y el precio</a:t>
            </a:r>
          </a:p>
        </p:txBody>
      </p:sp>
      <p:pic>
        <p:nvPicPr>
          <p:cNvPr id="5" name="Imagen 4">
            <a:extLst>
              <a:ext uri="{FF2B5EF4-FFF2-40B4-BE49-F238E27FC236}">
                <a16:creationId xmlns:a16="http://schemas.microsoft.com/office/drawing/2014/main" id="{ED44E4E9-1DF0-F910-8D52-721B0FA1B234}"/>
              </a:ext>
            </a:extLst>
          </p:cNvPr>
          <p:cNvPicPr>
            <a:picLocks noChangeAspect="1"/>
          </p:cNvPicPr>
          <p:nvPr/>
        </p:nvPicPr>
        <p:blipFill>
          <a:blip r:embed="rId3"/>
          <a:stretch>
            <a:fillRect/>
          </a:stretch>
        </p:blipFill>
        <p:spPr>
          <a:xfrm>
            <a:off x="1799772" y="1219200"/>
            <a:ext cx="5397500" cy="3848100"/>
          </a:xfrm>
          <a:prstGeom prst="rect">
            <a:avLst/>
          </a:prstGeom>
        </p:spPr>
      </p:pic>
      <p:sp>
        <p:nvSpPr>
          <p:cNvPr id="6" name="CuadroTexto 5">
            <a:extLst>
              <a:ext uri="{FF2B5EF4-FFF2-40B4-BE49-F238E27FC236}">
                <a16:creationId xmlns:a16="http://schemas.microsoft.com/office/drawing/2014/main" id="{0A8AB611-88B1-C229-261C-04768F1496F6}"/>
              </a:ext>
            </a:extLst>
          </p:cNvPr>
          <p:cNvSpPr txBox="1"/>
          <p:nvPr/>
        </p:nvSpPr>
        <p:spPr>
          <a:xfrm>
            <a:off x="7197272" y="1219200"/>
            <a:ext cx="1692442" cy="1061829"/>
          </a:xfrm>
          <a:prstGeom prst="rect">
            <a:avLst/>
          </a:prstGeom>
          <a:noFill/>
        </p:spPr>
        <p:txBody>
          <a:bodyPr wrap="square" rtlCol="0">
            <a:spAutoFit/>
          </a:bodyPr>
          <a:lstStyle/>
          <a:p>
            <a:r>
              <a:rPr lang="es-ES" sz="900" dirty="0">
                <a:solidFill>
                  <a:schemeClr val="bg1"/>
                </a:solidFill>
              </a:rPr>
              <a:t>* La valoración total (</a:t>
            </a:r>
            <a:r>
              <a:rPr lang="es-ES" sz="900" dirty="0" err="1">
                <a:solidFill>
                  <a:schemeClr val="bg1"/>
                </a:solidFill>
              </a:rPr>
              <a:t>total_scores</a:t>
            </a:r>
            <a:r>
              <a:rPr lang="es-ES" sz="900" dirty="0">
                <a:solidFill>
                  <a:schemeClr val="bg1"/>
                </a:solidFill>
              </a:rPr>
              <a:t>) hace referencia a la suma de todas las valoraciones recibidas en base a: Limpieza, localización, </a:t>
            </a:r>
            <a:r>
              <a:rPr lang="es-ES" sz="900" dirty="0" err="1">
                <a:solidFill>
                  <a:schemeClr val="bg1"/>
                </a:solidFill>
              </a:rPr>
              <a:t>Checkin</a:t>
            </a:r>
            <a:r>
              <a:rPr lang="es-ES" sz="900" dirty="0">
                <a:solidFill>
                  <a:schemeClr val="bg1"/>
                </a:solidFill>
              </a:rPr>
              <a:t> y Comunicación</a:t>
            </a:r>
          </a:p>
        </p:txBody>
      </p:sp>
    </p:spTree>
    <p:extLst>
      <p:ext uri="{BB962C8B-B14F-4D97-AF65-F5344CB8AC3E}">
        <p14:creationId xmlns:p14="http://schemas.microsoft.com/office/powerpoint/2010/main" val="1447582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AC951018-51F8-27A2-7B89-67E77206E4D9}"/>
            </a:ext>
          </a:extLst>
        </p:cNvPr>
        <p:cNvGrpSpPr/>
        <p:nvPr/>
      </p:nvGrpSpPr>
      <p:grpSpPr>
        <a:xfrm>
          <a:off x="0" y="0"/>
          <a:ext cx="0" cy="0"/>
          <a:chOff x="0" y="0"/>
          <a:chExt cx="0" cy="0"/>
        </a:xfrm>
      </p:grpSpPr>
      <p:sp>
        <p:nvSpPr>
          <p:cNvPr id="2" name="Google Shape;191;p19">
            <a:extLst>
              <a:ext uri="{FF2B5EF4-FFF2-40B4-BE49-F238E27FC236}">
                <a16:creationId xmlns:a16="http://schemas.microsoft.com/office/drawing/2014/main" id="{BEB6A7DC-ED76-08CD-78F9-E05ED67AF6DD}"/>
              </a:ext>
            </a:extLst>
          </p:cNvPr>
          <p:cNvSpPr txBox="1">
            <a:spLocks/>
          </p:cNvSpPr>
          <p:nvPr/>
        </p:nvSpPr>
        <p:spPr>
          <a:xfrm>
            <a:off x="1338251" y="205821"/>
            <a:ext cx="7038900" cy="914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9pPr>
          </a:lstStyle>
          <a:p>
            <a:r>
              <a:rPr lang="es-ES" sz="1600" b="1" dirty="0"/>
              <a:t>Hipótesis 4 – El nivel de Equipamiento de la propiedad se refleja en el precio</a:t>
            </a:r>
          </a:p>
        </p:txBody>
      </p:sp>
      <p:sp>
        <p:nvSpPr>
          <p:cNvPr id="3" name="CuadroTexto 2">
            <a:extLst>
              <a:ext uri="{FF2B5EF4-FFF2-40B4-BE49-F238E27FC236}">
                <a16:creationId xmlns:a16="http://schemas.microsoft.com/office/drawing/2014/main" id="{B8D3E4D6-4F1E-B333-C321-070FF2A1C2E9}"/>
              </a:ext>
            </a:extLst>
          </p:cNvPr>
          <p:cNvSpPr txBox="1"/>
          <p:nvPr/>
        </p:nvSpPr>
        <p:spPr>
          <a:xfrm>
            <a:off x="1338251" y="820841"/>
            <a:ext cx="5266656" cy="523220"/>
          </a:xfrm>
          <a:prstGeom prst="rect">
            <a:avLst/>
          </a:prstGeom>
          <a:noFill/>
        </p:spPr>
        <p:txBody>
          <a:bodyPr wrap="square" rtlCol="0">
            <a:spAutoFit/>
          </a:bodyPr>
          <a:lstStyle/>
          <a:p>
            <a:r>
              <a:rPr lang="es-ES" b="1" dirty="0">
                <a:solidFill>
                  <a:schemeClr val="bg1"/>
                </a:solidFill>
              </a:rPr>
              <a:t>Figura 1.</a:t>
            </a:r>
          </a:p>
          <a:p>
            <a:r>
              <a:rPr lang="es-ES" dirty="0">
                <a:solidFill>
                  <a:schemeClr val="bg1"/>
                </a:solidFill>
              </a:rPr>
              <a:t>Relación entre el nivel de equipamiento* y el precio</a:t>
            </a:r>
          </a:p>
        </p:txBody>
      </p:sp>
      <p:pic>
        <p:nvPicPr>
          <p:cNvPr id="4" name="Imagen 3">
            <a:extLst>
              <a:ext uri="{FF2B5EF4-FFF2-40B4-BE49-F238E27FC236}">
                <a16:creationId xmlns:a16="http://schemas.microsoft.com/office/drawing/2014/main" id="{40523282-FE3F-9D75-A4AF-D46A677FBA51}"/>
              </a:ext>
            </a:extLst>
          </p:cNvPr>
          <p:cNvPicPr>
            <a:picLocks noChangeAspect="1"/>
          </p:cNvPicPr>
          <p:nvPr/>
        </p:nvPicPr>
        <p:blipFill>
          <a:blip r:embed="rId3"/>
          <a:stretch>
            <a:fillRect/>
          </a:stretch>
        </p:blipFill>
        <p:spPr>
          <a:xfrm>
            <a:off x="1338251" y="1560179"/>
            <a:ext cx="4415255" cy="3158206"/>
          </a:xfrm>
          <a:prstGeom prst="rect">
            <a:avLst/>
          </a:prstGeom>
        </p:spPr>
      </p:pic>
      <p:sp>
        <p:nvSpPr>
          <p:cNvPr id="7" name="CuadroTexto 6">
            <a:extLst>
              <a:ext uri="{FF2B5EF4-FFF2-40B4-BE49-F238E27FC236}">
                <a16:creationId xmlns:a16="http://schemas.microsoft.com/office/drawing/2014/main" id="{762FF011-CD38-518B-E61E-64EFF074D068}"/>
              </a:ext>
            </a:extLst>
          </p:cNvPr>
          <p:cNvSpPr txBox="1"/>
          <p:nvPr/>
        </p:nvSpPr>
        <p:spPr>
          <a:xfrm>
            <a:off x="5943600" y="1620253"/>
            <a:ext cx="2911642" cy="1015663"/>
          </a:xfrm>
          <a:prstGeom prst="rect">
            <a:avLst/>
          </a:prstGeom>
          <a:noFill/>
        </p:spPr>
        <p:txBody>
          <a:bodyPr wrap="square" rtlCol="0">
            <a:spAutoFit/>
          </a:bodyPr>
          <a:lstStyle/>
          <a:p>
            <a:r>
              <a:rPr lang="es-ES" sz="1000" dirty="0">
                <a:solidFill>
                  <a:schemeClr val="bg1"/>
                </a:solidFill>
              </a:rPr>
              <a:t>*Nivel de Equipamiento: Se obtiene sumando las variables </a:t>
            </a:r>
            <a:r>
              <a:rPr lang="es-ES" sz="1000" dirty="0" err="1">
                <a:solidFill>
                  <a:schemeClr val="bg1"/>
                </a:solidFill>
              </a:rPr>
              <a:t>dummies</a:t>
            </a:r>
            <a:r>
              <a:rPr lang="es-ES" sz="1000" dirty="0">
                <a:solidFill>
                  <a:schemeClr val="bg1"/>
                </a:solidFill>
              </a:rPr>
              <a:t> en una escala de 5.</a:t>
            </a:r>
          </a:p>
          <a:p>
            <a:endParaRPr lang="es-ES" sz="1000" dirty="0">
              <a:solidFill>
                <a:schemeClr val="bg1"/>
              </a:solidFill>
            </a:endParaRPr>
          </a:p>
          <a:p>
            <a:r>
              <a:rPr lang="es-ES" sz="1000" dirty="0" err="1">
                <a:solidFill>
                  <a:schemeClr val="bg1"/>
                </a:solidFill>
              </a:rPr>
              <a:t>Low_equip</a:t>
            </a:r>
            <a:r>
              <a:rPr lang="es-ES" sz="1000" dirty="0">
                <a:solidFill>
                  <a:schemeClr val="bg1"/>
                </a:solidFill>
              </a:rPr>
              <a:t> &lt; 3</a:t>
            </a:r>
          </a:p>
          <a:p>
            <a:r>
              <a:rPr lang="es-ES" sz="1000" dirty="0" err="1">
                <a:solidFill>
                  <a:schemeClr val="bg1"/>
                </a:solidFill>
              </a:rPr>
              <a:t>Mid_equip</a:t>
            </a:r>
            <a:r>
              <a:rPr lang="es-ES" sz="1000" dirty="0">
                <a:solidFill>
                  <a:schemeClr val="bg1"/>
                </a:solidFill>
              </a:rPr>
              <a:t> == 3</a:t>
            </a:r>
          </a:p>
          <a:p>
            <a:r>
              <a:rPr lang="es-ES" sz="1000" dirty="0" err="1">
                <a:solidFill>
                  <a:schemeClr val="bg1"/>
                </a:solidFill>
              </a:rPr>
              <a:t>High_equip</a:t>
            </a:r>
            <a:r>
              <a:rPr lang="es-ES" sz="1000" dirty="0">
                <a:solidFill>
                  <a:schemeClr val="bg1"/>
                </a:solidFill>
              </a:rPr>
              <a:t> &gt; 3</a:t>
            </a:r>
          </a:p>
        </p:txBody>
      </p:sp>
    </p:spTree>
    <p:extLst>
      <p:ext uri="{BB962C8B-B14F-4D97-AF65-F5344CB8AC3E}">
        <p14:creationId xmlns:p14="http://schemas.microsoft.com/office/powerpoint/2010/main" val="485285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AB3816E1-7300-F92C-98CE-AF6C8A1F1622}"/>
            </a:ext>
          </a:extLst>
        </p:cNvPr>
        <p:cNvGrpSpPr/>
        <p:nvPr/>
      </p:nvGrpSpPr>
      <p:grpSpPr>
        <a:xfrm>
          <a:off x="0" y="0"/>
          <a:ext cx="0" cy="0"/>
          <a:chOff x="0" y="0"/>
          <a:chExt cx="0" cy="0"/>
        </a:xfrm>
      </p:grpSpPr>
      <p:sp>
        <p:nvSpPr>
          <p:cNvPr id="2" name="Google Shape;191;p19">
            <a:extLst>
              <a:ext uri="{FF2B5EF4-FFF2-40B4-BE49-F238E27FC236}">
                <a16:creationId xmlns:a16="http://schemas.microsoft.com/office/drawing/2014/main" id="{70F81F06-8E0C-6515-324B-2152DA8179A9}"/>
              </a:ext>
            </a:extLst>
          </p:cNvPr>
          <p:cNvSpPr txBox="1">
            <a:spLocks/>
          </p:cNvSpPr>
          <p:nvPr/>
        </p:nvSpPr>
        <p:spPr>
          <a:xfrm>
            <a:off x="1338251" y="205821"/>
            <a:ext cx="7038900" cy="914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9pPr>
          </a:lstStyle>
          <a:p>
            <a:r>
              <a:rPr lang="es-ES" sz="1600" b="1" dirty="0"/>
              <a:t>Hipótesis 5 – Las condiciones de reserva condicionan el precio</a:t>
            </a:r>
          </a:p>
        </p:txBody>
      </p:sp>
      <p:sp>
        <p:nvSpPr>
          <p:cNvPr id="3" name="CuadroTexto 2">
            <a:extLst>
              <a:ext uri="{FF2B5EF4-FFF2-40B4-BE49-F238E27FC236}">
                <a16:creationId xmlns:a16="http://schemas.microsoft.com/office/drawing/2014/main" id="{369DFC3D-806D-BFCB-A206-72061D418F5A}"/>
              </a:ext>
            </a:extLst>
          </p:cNvPr>
          <p:cNvSpPr txBox="1"/>
          <p:nvPr/>
        </p:nvSpPr>
        <p:spPr>
          <a:xfrm>
            <a:off x="1338251" y="596701"/>
            <a:ext cx="5266656" cy="523220"/>
          </a:xfrm>
          <a:prstGeom prst="rect">
            <a:avLst/>
          </a:prstGeom>
          <a:noFill/>
        </p:spPr>
        <p:txBody>
          <a:bodyPr wrap="square" rtlCol="0">
            <a:spAutoFit/>
          </a:bodyPr>
          <a:lstStyle/>
          <a:p>
            <a:r>
              <a:rPr lang="es-ES" b="1" dirty="0">
                <a:solidFill>
                  <a:schemeClr val="bg1"/>
                </a:solidFill>
              </a:rPr>
              <a:t>Figura 1.</a:t>
            </a:r>
          </a:p>
          <a:p>
            <a:r>
              <a:rPr lang="es-ES" dirty="0">
                <a:solidFill>
                  <a:schemeClr val="bg1"/>
                </a:solidFill>
              </a:rPr>
              <a:t>Relación entre las condiciones de reserva y el precio</a:t>
            </a:r>
          </a:p>
        </p:txBody>
      </p:sp>
      <p:pic>
        <p:nvPicPr>
          <p:cNvPr id="5" name="Imagen 4">
            <a:extLst>
              <a:ext uri="{FF2B5EF4-FFF2-40B4-BE49-F238E27FC236}">
                <a16:creationId xmlns:a16="http://schemas.microsoft.com/office/drawing/2014/main" id="{44331E8F-AA01-11AD-CA5B-49725BBB1284}"/>
              </a:ext>
            </a:extLst>
          </p:cNvPr>
          <p:cNvPicPr>
            <a:picLocks noChangeAspect="1"/>
          </p:cNvPicPr>
          <p:nvPr/>
        </p:nvPicPr>
        <p:blipFill>
          <a:blip r:embed="rId3"/>
          <a:stretch>
            <a:fillRect/>
          </a:stretch>
        </p:blipFill>
        <p:spPr>
          <a:xfrm>
            <a:off x="1953365" y="1510801"/>
            <a:ext cx="4651542" cy="3327221"/>
          </a:xfrm>
          <a:prstGeom prst="rect">
            <a:avLst/>
          </a:prstGeom>
        </p:spPr>
      </p:pic>
    </p:spTree>
    <p:extLst>
      <p:ext uri="{BB962C8B-B14F-4D97-AF65-F5344CB8AC3E}">
        <p14:creationId xmlns:p14="http://schemas.microsoft.com/office/powerpoint/2010/main" val="731317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E5B267F0-4A92-43B0-AA55-E5E60472D3E4}"/>
            </a:ext>
          </a:extLst>
        </p:cNvPr>
        <p:cNvGrpSpPr/>
        <p:nvPr/>
      </p:nvGrpSpPr>
      <p:grpSpPr>
        <a:xfrm>
          <a:off x="0" y="0"/>
          <a:ext cx="0" cy="0"/>
          <a:chOff x="0" y="0"/>
          <a:chExt cx="0" cy="0"/>
        </a:xfrm>
      </p:grpSpPr>
      <p:sp>
        <p:nvSpPr>
          <p:cNvPr id="2" name="Google Shape;191;p19">
            <a:extLst>
              <a:ext uri="{FF2B5EF4-FFF2-40B4-BE49-F238E27FC236}">
                <a16:creationId xmlns:a16="http://schemas.microsoft.com/office/drawing/2014/main" id="{0D3D689B-24F2-91B0-8A3B-58EBE47FAC00}"/>
              </a:ext>
            </a:extLst>
          </p:cNvPr>
          <p:cNvSpPr txBox="1">
            <a:spLocks/>
          </p:cNvSpPr>
          <p:nvPr/>
        </p:nvSpPr>
        <p:spPr>
          <a:xfrm>
            <a:off x="1338251" y="205821"/>
            <a:ext cx="7038900" cy="914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9pPr>
          </a:lstStyle>
          <a:p>
            <a:r>
              <a:rPr lang="es-ES" sz="1600" b="1" dirty="0"/>
              <a:t>5. Conclusiones</a:t>
            </a:r>
          </a:p>
        </p:txBody>
      </p:sp>
      <p:sp>
        <p:nvSpPr>
          <p:cNvPr id="4" name="CuadroTexto 3">
            <a:extLst>
              <a:ext uri="{FF2B5EF4-FFF2-40B4-BE49-F238E27FC236}">
                <a16:creationId xmlns:a16="http://schemas.microsoft.com/office/drawing/2014/main" id="{9CA528C2-C449-4FF9-6584-F616B04C3DBF}"/>
              </a:ext>
            </a:extLst>
          </p:cNvPr>
          <p:cNvSpPr txBox="1"/>
          <p:nvPr/>
        </p:nvSpPr>
        <p:spPr>
          <a:xfrm>
            <a:off x="1419076" y="909756"/>
            <a:ext cx="6737685" cy="3539430"/>
          </a:xfrm>
          <a:prstGeom prst="rect">
            <a:avLst/>
          </a:prstGeom>
          <a:noFill/>
        </p:spPr>
        <p:txBody>
          <a:bodyPr wrap="square" rtlCol="0">
            <a:spAutoFit/>
          </a:bodyPr>
          <a:lstStyle/>
          <a:p>
            <a:r>
              <a:rPr lang="es-ES" dirty="0">
                <a:solidFill>
                  <a:schemeClr val="bg1"/>
                </a:solidFill>
              </a:rPr>
              <a:t>Si bien la </a:t>
            </a:r>
            <a:r>
              <a:rPr lang="es-ES" b="1" dirty="0">
                <a:solidFill>
                  <a:schemeClr val="bg1"/>
                </a:solidFill>
              </a:rPr>
              <a:t>localización</a:t>
            </a:r>
            <a:r>
              <a:rPr lang="es-ES" dirty="0">
                <a:solidFill>
                  <a:schemeClr val="bg1"/>
                </a:solidFill>
              </a:rPr>
              <a:t> aumenta ligeramente el precio medio y aumenta de forma más considerable el tercer </a:t>
            </a:r>
            <a:r>
              <a:rPr lang="es-ES" dirty="0" err="1">
                <a:solidFill>
                  <a:schemeClr val="bg1"/>
                </a:solidFill>
              </a:rPr>
              <a:t>quantile</a:t>
            </a:r>
            <a:r>
              <a:rPr lang="es-ES" dirty="0">
                <a:solidFill>
                  <a:schemeClr val="bg1"/>
                </a:solidFill>
              </a:rPr>
              <a:t>, la correlación es prácticamente nula con tendencia negativa (-0,11 y -0,10), por lo que no influye determinantemente en el precio.</a:t>
            </a:r>
          </a:p>
          <a:p>
            <a:endParaRPr lang="es-ES" dirty="0">
              <a:solidFill>
                <a:schemeClr val="bg1"/>
              </a:solidFill>
            </a:endParaRPr>
          </a:p>
          <a:p>
            <a:r>
              <a:rPr lang="es-ES" dirty="0">
                <a:solidFill>
                  <a:schemeClr val="bg1"/>
                </a:solidFill>
              </a:rPr>
              <a:t>Teniendo en cuenta el </a:t>
            </a:r>
            <a:r>
              <a:rPr lang="es-ES" b="1" dirty="0">
                <a:solidFill>
                  <a:schemeClr val="bg1"/>
                </a:solidFill>
              </a:rPr>
              <a:t>tipo de Host </a:t>
            </a:r>
            <a:r>
              <a:rPr lang="es-ES" dirty="0">
                <a:solidFill>
                  <a:schemeClr val="bg1"/>
                </a:solidFill>
              </a:rPr>
              <a:t>(</a:t>
            </a:r>
            <a:r>
              <a:rPr lang="es-ES" dirty="0" err="1">
                <a:solidFill>
                  <a:schemeClr val="bg1"/>
                </a:solidFill>
              </a:rPr>
              <a:t>SuperHost</a:t>
            </a:r>
            <a:r>
              <a:rPr lang="es-ES" dirty="0">
                <a:solidFill>
                  <a:schemeClr val="bg1"/>
                </a:solidFill>
              </a:rPr>
              <a:t>), dicha característica si influye de forma muy ligera en el precio. En cuanto al </a:t>
            </a:r>
            <a:r>
              <a:rPr lang="es-ES" b="1" dirty="0">
                <a:solidFill>
                  <a:schemeClr val="bg1"/>
                </a:solidFill>
              </a:rPr>
              <a:t>tiempo de respuesta medio</a:t>
            </a:r>
            <a:r>
              <a:rPr lang="es-ES" dirty="0">
                <a:solidFill>
                  <a:schemeClr val="bg1"/>
                </a:solidFill>
              </a:rPr>
              <a:t>, se dan resultados contradictorios puesto que el precio aumenta con una tasa de respuesta de 24 horas de forma considerable, pero no se da el mismo aumento con una tasa de respuesta media de unas pocas horas.</a:t>
            </a:r>
          </a:p>
          <a:p>
            <a:endParaRPr lang="es-ES" dirty="0">
              <a:solidFill>
                <a:schemeClr val="bg1"/>
              </a:solidFill>
            </a:endParaRPr>
          </a:p>
          <a:p>
            <a:pPr algn="just"/>
            <a:r>
              <a:rPr lang="es-ES" dirty="0">
                <a:solidFill>
                  <a:schemeClr val="bg1"/>
                </a:solidFill>
              </a:rPr>
              <a:t>La </a:t>
            </a:r>
            <a:r>
              <a:rPr lang="es-ES" b="1" dirty="0">
                <a:solidFill>
                  <a:schemeClr val="bg1"/>
                </a:solidFill>
              </a:rPr>
              <a:t>antigüedad del host </a:t>
            </a:r>
            <a:r>
              <a:rPr lang="es-ES" dirty="0">
                <a:solidFill>
                  <a:schemeClr val="bg1"/>
                </a:solidFill>
              </a:rPr>
              <a:t>tampoco es un factor determinante en el precio dado que existe una tendencia lineal hacia la derecha, que indica un patrón estático. La correlación de Spearman arroja un valor positivo de 0,048</a:t>
            </a:r>
          </a:p>
          <a:p>
            <a:endParaRPr lang="es-ES" dirty="0">
              <a:solidFill>
                <a:schemeClr val="bg1"/>
              </a:solidFill>
            </a:endParaRPr>
          </a:p>
          <a:p>
            <a:endParaRPr lang="es-ES" dirty="0">
              <a:solidFill>
                <a:schemeClr val="bg1"/>
              </a:solidFill>
            </a:endParaRPr>
          </a:p>
        </p:txBody>
      </p:sp>
    </p:spTree>
    <p:extLst>
      <p:ext uri="{BB962C8B-B14F-4D97-AF65-F5344CB8AC3E}">
        <p14:creationId xmlns:p14="http://schemas.microsoft.com/office/powerpoint/2010/main" val="1726233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4754E036-6EFC-61A2-5E9E-EABA77C6032C}"/>
            </a:ext>
          </a:extLst>
        </p:cNvPr>
        <p:cNvGrpSpPr/>
        <p:nvPr/>
      </p:nvGrpSpPr>
      <p:grpSpPr>
        <a:xfrm>
          <a:off x="0" y="0"/>
          <a:ext cx="0" cy="0"/>
          <a:chOff x="0" y="0"/>
          <a:chExt cx="0" cy="0"/>
        </a:xfrm>
      </p:grpSpPr>
      <p:sp>
        <p:nvSpPr>
          <p:cNvPr id="2" name="Google Shape;191;p19">
            <a:extLst>
              <a:ext uri="{FF2B5EF4-FFF2-40B4-BE49-F238E27FC236}">
                <a16:creationId xmlns:a16="http://schemas.microsoft.com/office/drawing/2014/main" id="{1F08DE0D-BF6F-2307-632A-E76D56D4EC45}"/>
              </a:ext>
            </a:extLst>
          </p:cNvPr>
          <p:cNvSpPr txBox="1">
            <a:spLocks/>
          </p:cNvSpPr>
          <p:nvPr/>
        </p:nvSpPr>
        <p:spPr>
          <a:xfrm>
            <a:off x="1338251" y="205821"/>
            <a:ext cx="7038900" cy="914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9pPr>
          </a:lstStyle>
          <a:p>
            <a:r>
              <a:rPr lang="es-ES" sz="1600" b="1" dirty="0"/>
              <a:t>5. Conclusiones</a:t>
            </a:r>
          </a:p>
        </p:txBody>
      </p:sp>
      <p:sp>
        <p:nvSpPr>
          <p:cNvPr id="4" name="CuadroTexto 3">
            <a:extLst>
              <a:ext uri="{FF2B5EF4-FFF2-40B4-BE49-F238E27FC236}">
                <a16:creationId xmlns:a16="http://schemas.microsoft.com/office/drawing/2014/main" id="{EF2AAA3E-D1D0-E403-8DF1-BC2D892C4F7C}"/>
              </a:ext>
            </a:extLst>
          </p:cNvPr>
          <p:cNvSpPr txBox="1"/>
          <p:nvPr/>
        </p:nvSpPr>
        <p:spPr>
          <a:xfrm>
            <a:off x="1419076" y="909756"/>
            <a:ext cx="6737685" cy="4616648"/>
          </a:xfrm>
          <a:prstGeom prst="rect">
            <a:avLst/>
          </a:prstGeom>
          <a:noFill/>
        </p:spPr>
        <p:txBody>
          <a:bodyPr wrap="square" rtlCol="0">
            <a:spAutoFit/>
          </a:bodyPr>
          <a:lstStyle/>
          <a:p>
            <a:pPr algn="just"/>
            <a:r>
              <a:rPr lang="es-ES" dirty="0">
                <a:solidFill>
                  <a:schemeClr val="bg1"/>
                </a:solidFill>
              </a:rPr>
              <a:t>En lo que se refiere al </a:t>
            </a:r>
            <a:r>
              <a:rPr lang="es-ES" b="1" dirty="0">
                <a:solidFill>
                  <a:schemeClr val="bg1"/>
                </a:solidFill>
              </a:rPr>
              <a:t>número de </a:t>
            </a:r>
            <a:r>
              <a:rPr lang="es-ES" b="1" dirty="0" err="1">
                <a:solidFill>
                  <a:schemeClr val="bg1"/>
                </a:solidFill>
              </a:rPr>
              <a:t>reviews</a:t>
            </a:r>
            <a:r>
              <a:rPr lang="es-ES" b="1" dirty="0">
                <a:solidFill>
                  <a:schemeClr val="bg1"/>
                </a:solidFill>
              </a:rPr>
              <a:t> </a:t>
            </a:r>
            <a:r>
              <a:rPr lang="es-ES" dirty="0">
                <a:solidFill>
                  <a:schemeClr val="bg1"/>
                </a:solidFill>
              </a:rPr>
              <a:t>recibidas, se da una correlación negativa del -0,11. Sin embargo, teniendo en cuenta las </a:t>
            </a:r>
            <a:r>
              <a:rPr lang="es-ES" dirty="0" err="1">
                <a:solidFill>
                  <a:schemeClr val="bg1"/>
                </a:solidFill>
              </a:rPr>
              <a:t>reviews</a:t>
            </a:r>
            <a:r>
              <a:rPr lang="es-ES" dirty="0">
                <a:solidFill>
                  <a:schemeClr val="bg1"/>
                </a:solidFill>
              </a:rPr>
              <a:t> sobre limpieza, </a:t>
            </a:r>
            <a:r>
              <a:rPr lang="es-ES" dirty="0" err="1">
                <a:solidFill>
                  <a:schemeClr val="bg1"/>
                </a:solidFill>
              </a:rPr>
              <a:t>checkin</a:t>
            </a:r>
            <a:r>
              <a:rPr lang="es-ES" dirty="0">
                <a:solidFill>
                  <a:schemeClr val="bg1"/>
                </a:solidFill>
              </a:rPr>
              <a:t>, comunicación, </a:t>
            </a:r>
            <a:r>
              <a:rPr lang="es-ES" dirty="0" err="1">
                <a:solidFill>
                  <a:schemeClr val="bg1"/>
                </a:solidFill>
              </a:rPr>
              <a:t>etc</a:t>
            </a:r>
            <a:r>
              <a:rPr lang="es-ES" dirty="0">
                <a:solidFill>
                  <a:schemeClr val="bg1"/>
                </a:solidFill>
              </a:rPr>
              <a:t> bajo la </a:t>
            </a:r>
            <a:r>
              <a:rPr lang="es-ES" b="1" dirty="0">
                <a:solidFill>
                  <a:schemeClr val="bg1"/>
                </a:solidFill>
              </a:rPr>
              <a:t>variable </a:t>
            </a:r>
            <a:r>
              <a:rPr lang="es-ES" b="1" dirty="0" err="1">
                <a:solidFill>
                  <a:schemeClr val="bg1"/>
                </a:solidFill>
              </a:rPr>
              <a:t>total_scores</a:t>
            </a:r>
            <a:r>
              <a:rPr lang="es-ES" dirty="0">
                <a:solidFill>
                  <a:schemeClr val="bg1"/>
                </a:solidFill>
              </a:rPr>
              <a:t>, se aprecia una correlación positiva del 0,09, apreciándose también una tendencia al alza en el diagrama de dispersión, mostrando precios más elevados cuanto mayor sea la puntuación en la variable </a:t>
            </a:r>
            <a:r>
              <a:rPr lang="es-ES" dirty="0" err="1">
                <a:solidFill>
                  <a:schemeClr val="bg1"/>
                </a:solidFill>
              </a:rPr>
              <a:t>total_scores</a:t>
            </a:r>
            <a:r>
              <a:rPr lang="es-ES" dirty="0">
                <a:solidFill>
                  <a:schemeClr val="bg1"/>
                </a:solidFill>
              </a:rPr>
              <a:t> en una escala que va del 1 al 5.</a:t>
            </a:r>
          </a:p>
          <a:p>
            <a:pPr algn="just"/>
            <a:endParaRPr lang="es-ES" dirty="0">
              <a:solidFill>
                <a:schemeClr val="bg1"/>
              </a:solidFill>
            </a:endParaRPr>
          </a:p>
          <a:p>
            <a:pPr algn="just"/>
            <a:r>
              <a:rPr lang="es-ES" dirty="0">
                <a:solidFill>
                  <a:schemeClr val="bg1"/>
                </a:solidFill>
              </a:rPr>
              <a:t>El </a:t>
            </a:r>
            <a:r>
              <a:rPr lang="es-ES" b="1" dirty="0">
                <a:solidFill>
                  <a:schemeClr val="bg1"/>
                </a:solidFill>
              </a:rPr>
              <a:t>Nivel de Equipamiento </a:t>
            </a:r>
            <a:r>
              <a:rPr lang="es-ES" dirty="0">
                <a:solidFill>
                  <a:schemeClr val="bg1"/>
                </a:solidFill>
              </a:rPr>
              <a:t>(</a:t>
            </a:r>
            <a:r>
              <a:rPr lang="es-ES" dirty="0" err="1">
                <a:solidFill>
                  <a:schemeClr val="bg1"/>
                </a:solidFill>
              </a:rPr>
              <a:t>low_equip</a:t>
            </a:r>
            <a:r>
              <a:rPr lang="es-ES" dirty="0">
                <a:solidFill>
                  <a:schemeClr val="bg1"/>
                </a:solidFill>
              </a:rPr>
              <a:t> &lt; 3, </a:t>
            </a:r>
            <a:r>
              <a:rPr lang="es-ES" dirty="0" err="1">
                <a:solidFill>
                  <a:schemeClr val="bg1"/>
                </a:solidFill>
              </a:rPr>
              <a:t>mid_equip</a:t>
            </a:r>
            <a:r>
              <a:rPr lang="es-ES" dirty="0">
                <a:solidFill>
                  <a:schemeClr val="bg1"/>
                </a:solidFill>
              </a:rPr>
              <a:t> == 3, </a:t>
            </a:r>
            <a:r>
              <a:rPr lang="es-ES" dirty="0" err="1">
                <a:solidFill>
                  <a:schemeClr val="bg1"/>
                </a:solidFill>
              </a:rPr>
              <a:t>high_equip</a:t>
            </a:r>
            <a:r>
              <a:rPr lang="es-ES" dirty="0">
                <a:solidFill>
                  <a:schemeClr val="bg1"/>
                </a:solidFill>
              </a:rPr>
              <a:t> &gt; 3) correlaciona con el precio en un 0,15, siendo ésta la más alta de todas las hipótesis. Los inmuebles con un alto nivel de equipamiento tienen precios medios más altos que los de menos nivel de equipamiento.</a:t>
            </a:r>
          </a:p>
          <a:p>
            <a:pPr algn="just"/>
            <a:endParaRPr lang="es-ES" dirty="0">
              <a:solidFill>
                <a:schemeClr val="bg1"/>
              </a:solidFill>
            </a:endParaRPr>
          </a:p>
          <a:p>
            <a:pPr algn="just"/>
            <a:r>
              <a:rPr lang="es-ES" dirty="0">
                <a:solidFill>
                  <a:schemeClr val="bg1"/>
                </a:solidFill>
              </a:rPr>
              <a:t>En relación con la </a:t>
            </a:r>
            <a:r>
              <a:rPr lang="es-ES" b="1" dirty="0">
                <a:solidFill>
                  <a:schemeClr val="bg1"/>
                </a:solidFill>
              </a:rPr>
              <a:t>Flexibilidad de las condiciones</a:t>
            </a:r>
            <a:r>
              <a:rPr lang="es-ES" dirty="0">
                <a:solidFill>
                  <a:schemeClr val="bg1"/>
                </a:solidFill>
              </a:rPr>
              <a:t>, cabría esperar que a mayor flexibilidad, mayor impacto en el precio. Ocurre así en cierto modo pero se da una contradicción con unas condiciones estrictas de 30 días</a:t>
            </a:r>
          </a:p>
          <a:p>
            <a:pPr algn="just"/>
            <a:endParaRPr lang="es-ES" dirty="0">
              <a:solidFill>
                <a:schemeClr val="bg1"/>
              </a:solidFill>
            </a:endParaRPr>
          </a:p>
          <a:p>
            <a:pPr algn="just"/>
            <a:endParaRPr lang="es-ES" dirty="0">
              <a:solidFill>
                <a:schemeClr val="bg1"/>
              </a:solidFill>
            </a:endParaRPr>
          </a:p>
          <a:p>
            <a:pPr algn="just"/>
            <a:endParaRPr lang="es-ES" dirty="0">
              <a:solidFill>
                <a:schemeClr val="bg1"/>
              </a:solidFill>
            </a:endParaRPr>
          </a:p>
          <a:p>
            <a:pPr algn="just"/>
            <a:endParaRPr lang="es-ES" dirty="0">
              <a:solidFill>
                <a:schemeClr val="bg1"/>
              </a:solidFill>
            </a:endParaRPr>
          </a:p>
          <a:p>
            <a:endParaRPr lang="es-ES" dirty="0">
              <a:solidFill>
                <a:schemeClr val="bg1"/>
              </a:solidFill>
            </a:endParaRPr>
          </a:p>
          <a:p>
            <a:endParaRPr lang="es-ES" dirty="0">
              <a:solidFill>
                <a:schemeClr val="bg1"/>
              </a:solidFill>
            </a:endParaRPr>
          </a:p>
        </p:txBody>
      </p:sp>
    </p:spTree>
    <p:extLst>
      <p:ext uri="{BB962C8B-B14F-4D97-AF65-F5344CB8AC3E}">
        <p14:creationId xmlns:p14="http://schemas.microsoft.com/office/powerpoint/2010/main" val="2239460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FC0901B4-8E0F-504F-8ADB-099B94C851B8}"/>
            </a:ext>
          </a:extLst>
        </p:cNvPr>
        <p:cNvGrpSpPr/>
        <p:nvPr/>
      </p:nvGrpSpPr>
      <p:grpSpPr>
        <a:xfrm>
          <a:off x="0" y="0"/>
          <a:ext cx="0" cy="0"/>
          <a:chOff x="0" y="0"/>
          <a:chExt cx="0" cy="0"/>
        </a:xfrm>
      </p:grpSpPr>
      <p:sp>
        <p:nvSpPr>
          <p:cNvPr id="2" name="Google Shape;191;p19">
            <a:extLst>
              <a:ext uri="{FF2B5EF4-FFF2-40B4-BE49-F238E27FC236}">
                <a16:creationId xmlns:a16="http://schemas.microsoft.com/office/drawing/2014/main" id="{D8F7CD21-7375-53AC-B2BC-6EB76379F33D}"/>
              </a:ext>
            </a:extLst>
          </p:cNvPr>
          <p:cNvSpPr txBox="1">
            <a:spLocks/>
          </p:cNvSpPr>
          <p:nvPr/>
        </p:nvSpPr>
        <p:spPr>
          <a:xfrm>
            <a:off x="1338251" y="205821"/>
            <a:ext cx="7038900" cy="914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9pPr>
          </a:lstStyle>
          <a:p>
            <a:r>
              <a:rPr lang="es-ES" sz="1600" b="1" dirty="0"/>
              <a:t>6. Recomendaciones Generales</a:t>
            </a:r>
          </a:p>
        </p:txBody>
      </p:sp>
      <p:sp>
        <p:nvSpPr>
          <p:cNvPr id="3" name="CuadroTexto 3">
            <a:extLst>
              <a:ext uri="{FF2B5EF4-FFF2-40B4-BE49-F238E27FC236}">
                <a16:creationId xmlns:a16="http://schemas.microsoft.com/office/drawing/2014/main" id="{78EF1D90-E66F-01E6-8CE2-709D3F68F643}"/>
              </a:ext>
            </a:extLst>
          </p:cNvPr>
          <p:cNvSpPr txBox="1"/>
          <p:nvPr/>
        </p:nvSpPr>
        <p:spPr>
          <a:xfrm>
            <a:off x="1419076" y="909756"/>
            <a:ext cx="6737685" cy="4616648"/>
          </a:xfrm>
          <a:prstGeom prst="rect">
            <a:avLst/>
          </a:prstGeom>
          <a:noFill/>
        </p:spPr>
        <p:txBody>
          <a:bodyPr wrap="square" rtlCol="0">
            <a:spAutoFit/>
          </a:bodyPr>
          <a:lstStyle/>
          <a:p>
            <a:pPr marL="285750" indent="-285750" algn="just">
              <a:buFont typeface="Arial" panose="020B0604020202020204" pitchFamily="34" charset="0"/>
              <a:buChar char="•"/>
            </a:pPr>
            <a:r>
              <a:rPr lang="es-ES" b="1" dirty="0">
                <a:solidFill>
                  <a:schemeClr val="bg1"/>
                </a:solidFill>
              </a:rPr>
              <a:t>No sobrevalorar la ubicación </a:t>
            </a:r>
            <a:r>
              <a:rPr lang="es-ES" dirty="0">
                <a:solidFill>
                  <a:schemeClr val="bg1"/>
                </a:solidFill>
              </a:rPr>
              <a:t>pese a que la misma tiene un impacto en el precio medio, la correlación es débil. Conviene revisar el nivel de equipamiento de los inmuebles dentro del Top 10 por cercanía, calidad del alojamiento y de la experiencia cliente, etc.</a:t>
            </a:r>
          </a:p>
          <a:p>
            <a:pPr marL="285750" indent="-285750" algn="just">
              <a:buFont typeface="Arial" panose="020B0604020202020204" pitchFamily="34" charset="0"/>
              <a:buChar char="•"/>
            </a:pPr>
            <a:endParaRPr lang="es-ES" dirty="0">
              <a:solidFill>
                <a:schemeClr val="bg1"/>
              </a:solidFill>
            </a:endParaRPr>
          </a:p>
          <a:p>
            <a:pPr marL="285750" indent="-285750" algn="just">
              <a:buFont typeface="Arial" panose="020B0604020202020204" pitchFamily="34" charset="0"/>
              <a:buChar char="•"/>
            </a:pPr>
            <a:r>
              <a:rPr lang="es-ES" b="1" dirty="0">
                <a:solidFill>
                  <a:schemeClr val="bg1"/>
                </a:solidFill>
              </a:rPr>
              <a:t>Potenciar la certificación de </a:t>
            </a:r>
            <a:r>
              <a:rPr lang="es-ES" b="1" dirty="0" err="1">
                <a:solidFill>
                  <a:schemeClr val="bg1"/>
                </a:solidFill>
              </a:rPr>
              <a:t>SuperHost</a:t>
            </a:r>
            <a:r>
              <a:rPr lang="es-ES" b="1" dirty="0">
                <a:solidFill>
                  <a:schemeClr val="bg1"/>
                </a:solidFill>
              </a:rPr>
              <a:t> </a:t>
            </a:r>
            <a:r>
              <a:rPr lang="es-ES" dirty="0">
                <a:solidFill>
                  <a:schemeClr val="bg1"/>
                </a:solidFill>
              </a:rPr>
              <a:t>como ventaja competitiva.</a:t>
            </a:r>
          </a:p>
          <a:p>
            <a:pPr marL="285750" indent="-285750" algn="just">
              <a:buFont typeface="Arial" panose="020B0604020202020204" pitchFamily="34" charset="0"/>
              <a:buChar char="•"/>
            </a:pPr>
            <a:endParaRPr lang="es-ES" dirty="0">
              <a:solidFill>
                <a:schemeClr val="bg1"/>
              </a:solidFill>
            </a:endParaRPr>
          </a:p>
          <a:p>
            <a:pPr marL="285750" indent="-285750" algn="just">
              <a:buFont typeface="Arial" panose="020B0604020202020204" pitchFamily="34" charset="0"/>
              <a:buChar char="•"/>
            </a:pPr>
            <a:r>
              <a:rPr lang="es-ES" b="1" dirty="0">
                <a:solidFill>
                  <a:schemeClr val="bg1"/>
                </a:solidFill>
              </a:rPr>
              <a:t>Optimización del tiempo de respuesta</a:t>
            </a:r>
            <a:r>
              <a:rPr lang="es-ES" dirty="0">
                <a:solidFill>
                  <a:schemeClr val="bg1"/>
                </a:solidFill>
              </a:rPr>
              <a:t>, manteniéndola dentro de 24 horas.</a:t>
            </a:r>
          </a:p>
          <a:p>
            <a:pPr marL="285750" indent="-285750" algn="just">
              <a:buFont typeface="Arial" panose="020B0604020202020204" pitchFamily="34" charset="0"/>
              <a:buChar char="•"/>
            </a:pPr>
            <a:endParaRPr lang="es-ES" dirty="0">
              <a:solidFill>
                <a:schemeClr val="bg1"/>
              </a:solidFill>
            </a:endParaRPr>
          </a:p>
          <a:p>
            <a:pPr marL="285750" indent="-285750" algn="just">
              <a:buFont typeface="Arial" panose="020B0604020202020204" pitchFamily="34" charset="0"/>
              <a:buChar char="•"/>
            </a:pPr>
            <a:r>
              <a:rPr lang="es-ES" b="1" dirty="0">
                <a:solidFill>
                  <a:schemeClr val="bg1"/>
                </a:solidFill>
              </a:rPr>
              <a:t>Diferenciación con servicios y comodidades adicionales</a:t>
            </a:r>
            <a:r>
              <a:rPr lang="es-ES" dirty="0">
                <a:solidFill>
                  <a:schemeClr val="bg1"/>
                </a:solidFill>
              </a:rPr>
              <a:t> tales como desayuno, servicio de limpieza, </a:t>
            </a:r>
            <a:r>
              <a:rPr lang="es-ES" dirty="0" err="1">
                <a:solidFill>
                  <a:schemeClr val="bg1"/>
                </a:solidFill>
              </a:rPr>
              <a:t>check</a:t>
            </a:r>
            <a:r>
              <a:rPr lang="es-ES" dirty="0">
                <a:solidFill>
                  <a:schemeClr val="bg1"/>
                </a:solidFill>
              </a:rPr>
              <a:t>-in y </a:t>
            </a:r>
            <a:r>
              <a:rPr lang="es-ES" dirty="0" err="1">
                <a:solidFill>
                  <a:schemeClr val="bg1"/>
                </a:solidFill>
              </a:rPr>
              <a:t>check-out</a:t>
            </a:r>
            <a:r>
              <a:rPr lang="es-ES" dirty="0">
                <a:solidFill>
                  <a:schemeClr val="bg1"/>
                </a:solidFill>
              </a:rPr>
              <a:t> flexibles, </a:t>
            </a:r>
            <a:r>
              <a:rPr lang="es-ES" dirty="0" err="1">
                <a:solidFill>
                  <a:schemeClr val="bg1"/>
                </a:solidFill>
              </a:rPr>
              <a:t>etc</a:t>
            </a:r>
            <a:r>
              <a:rPr lang="es-ES" dirty="0">
                <a:solidFill>
                  <a:schemeClr val="bg1"/>
                </a:solidFill>
              </a:rPr>
              <a:t> para aumentar el valor percibido</a:t>
            </a:r>
          </a:p>
          <a:p>
            <a:pPr marL="285750" indent="-285750" algn="just">
              <a:buFont typeface="Arial" panose="020B0604020202020204" pitchFamily="34" charset="0"/>
              <a:buChar char="•"/>
            </a:pPr>
            <a:endParaRPr lang="es-ES" dirty="0">
              <a:solidFill>
                <a:schemeClr val="bg1"/>
              </a:solidFill>
            </a:endParaRPr>
          </a:p>
          <a:p>
            <a:pPr marL="285750" indent="-285750" algn="just">
              <a:buFont typeface="Arial" panose="020B0604020202020204" pitchFamily="34" charset="0"/>
              <a:buChar char="•"/>
            </a:pPr>
            <a:r>
              <a:rPr lang="es-ES" b="1" dirty="0">
                <a:solidFill>
                  <a:schemeClr val="bg1"/>
                </a:solidFill>
              </a:rPr>
              <a:t>Análisis de competencia local </a:t>
            </a:r>
            <a:r>
              <a:rPr lang="es-ES" dirty="0">
                <a:solidFill>
                  <a:schemeClr val="bg1"/>
                </a:solidFill>
              </a:rPr>
              <a:t>para no depender únicamente de la zona y así estudiar que estrategias funcionan en nuestra competencia.</a:t>
            </a:r>
          </a:p>
          <a:p>
            <a:pPr algn="just"/>
            <a:endParaRPr lang="es-ES" dirty="0">
              <a:solidFill>
                <a:schemeClr val="bg1"/>
              </a:solidFill>
            </a:endParaRPr>
          </a:p>
          <a:p>
            <a:pPr algn="just"/>
            <a:endParaRPr lang="es-ES" dirty="0">
              <a:solidFill>
                <a:schemeClr val="bg1"/>
              </a:solidFill>
            </a:endParaRPr>
          </a:p>
          <a:p>
            <a:pPr algn="just"/>
            <a:endParaRPr lang="es-ES" dirty="0">
              <a:solidFill>
                <a:schemeClr val="bg1"/>
              </a:solidFill>
            </a:endParaRPr>
          </a:p>
          <a:p>
            <a:pPr algn="just"/>
            <a:endParaRPr lang="es-ES" dirty="0">
              <a:solidFill>
                <a:schemeClr val="bg1"/>
              </a:solidFill>
            </a:endParaRPr>
          </a:p>
          <a:p>
            <a:endParaRPr lang="es-ES" dirty="0">
              <a:solidFill>
                <a:schemeClr val="bg1"/>
              </a:solidFill>
            </a:endParaRPr>
          </a:p>
          <a:p>
            <a:endParaRPr lang="es-ES" dirty="0">
              <a:solidFill>
                <a:schemeClr val="bg1"/>
              </a:solidFill>
            </a:endParaRPr>
          </a:p>
        </p:txBody>
      </p:sp>
    </p:spTree>
    <p:extLst>
      <p:ext uri="{BB962C8B-B14F-4D97-AF65-F5344CB8AC3E}">
        <p14:creationId xmlns:p14="http://schemas.microsoft.com/office/powerpoint/2010/main" val="781851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73402C05-4F29-613E-DC45-CF95F6EF51DF}"/>
            </a:ext>
          </a:extLst>
        </p:cNvPr>
        <p:cNvGrpSpPr/>
        <p:nvPr/>
      </p:nvGrpSpPr>
      <p:grpSpPr>
        <a:xfrm>
          <a:off x="0" y="0"/>
          <a:ext cx="0" cy="0"/>
          <a:chOff x="0" y="0"/>
          <a:chExt cx="0" cy="0"/>
        </a:xfrm>
      </p:grpSpPr>
      <p:sp>
        <p:nvSpPr>
          <p:cNvPr id="2" name="Google Shape;191;p19">
            <a:extLst>
              <a:ext uri="{FF2B5EF4-FFF2-40B4-BE49-F238E27FC236}">
                <a16:creationId xmlns:a16="http://schemas.microsoft.com/office/drawing/2014/main" id="{71AA3034-60E7-1E8B-8351-D191F2916EC7}"/>
              </a:ext>
            </a:extLst>
          </p:cNvPr>
          <p:cNvSpPr txBox="1">
            <a:spLocks/>
          </p:cNvSpPr>
          <p:nvPr/>
        </p:nvSpPr>
        <p:spPr>
          <a:xfrm>
            <a:off x="1338251" y="205821"/>
            <a:ext cx="7038900" cy="914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9pPr>
          </a:lstStyle>
          <a:p>
            <a:r>
              <a:rPr lang="es-ES" sz="1600" b="1" dirty="0"/>
              <a:t>6. Recomendaciones Generales</a:t>
            </a:r>
          </a:p>
        </p:txBody>
      </p:sp>
      <p:sp>
        <p:nvSpPr>
          <p:cNvPr id="3" name="CuadroTexto 3">
            <a:extLst>
              <a:ext uri="{FF2B5EF4-FFF2-40B4-BE49-F238E27FC236}">
                <a16:creationId xmlns:a16="http://schemas.microsoft.com/office/drawing/2014/main" id="{3CE45153-978F-DFA6-27D9-726015397A67}"/>
              </a:ext>
            </a:extLst>
          </p:cNvPr>
          <p:cNvSpPr txBox="1"/>
          <p:nvPr/>
        </p:nvSpPr>
        <p:spPr>
          <a:xfrm>
            <a:off x="1419076" y="909756"/>
            <a:ext cx="6737685" cy="3539430"/>
          </a:xfrm>
          <a:prstGeom prst="rect">
            <a:avLst/>
          </a:prstGeom>
          <a:noFill/>
        </p:spPr>
        <p:txBody>
          <a:bodyPr wrap="square" rtlCol="0">
            <a:spAutoFit/>
          </a:bodyPr>
          <a:lstStyle/>
          <a:p>
            <a:pPr marL="285750" indent="-285750" algn="just">
              <a:buFont typeface="Arial" panose="020B0604020202020204" pitchFamily="34" charset="0"/>
              <a:buChar char="•"/>
            </a:pPr>
            <a:r>
              <a:rPr lang="es-ES" b="1" dirty="0">
                <a:solidFill>
                  <a:schemeClr val="bg1"/>
                </a:solidFill>
              </a:rPr>
              <a:t>Inversión en Equipamiento </a:t>
            </a:r>
            <a:r>
              <a:rPr lang="es-ES" dirty="0">
                <a:solidFill>
                  <a:schemeClr val="bg1"/>
                </a:solidFill>
              </a:rPr>
              <a:t>manteniendo la mayoría de los inmuebles con un nivel de equipamiento de medio a alto puede servir para </a:t>
            </a:r>
            <a:r>
              <a:rPr lang="es-ES" dirty="0" err="1">
                <a:solidFill>
                  <a:schemeClr val="bg1"/>
                </a:solidFill>
              </a:rPr>
              <a:t>justicar</a:t>
            </a:r>
            <a:r>
              <a:rPr lang="es-ES" dirty="0">
                <a:solidFill>
                  <a:schemeClr val="bg1"/>
                </a:solidFill>
              </a:rPr>
              <a:t> la optimización de precios.</a:t>
            </a:r>
          </a:p>
          <a:p>
            <a:pPr marL="285750" indent="-285750" algn="just">
              <a:buFont typeface="Arial" panose="020B0604020202020204" pitchFamily="34" charset="0"/>
              <a:buChar char="•"/>
            </a:pPr>
            <a:endParaRPr lang="es-ES" dirty="0">
              <a:solidFill>
                <a:schemeClr val="bg1"/>
              </a:solidFill>
            </a:endParaRPr>
          </a:p>
          <a:p>
            <a:pPr marL="285750" indent="-285750" algn="just">
              <a:buFont typeface="Arial" panose="020B0604020202020204" pitchFamily="34" charset="0"/>
              <a:buChar char="•"/>
            </a:pPr>
            <a:r>
              <a:rPr lang="es-ES" b="1" dirty="0">
                <a:solidFill>
                  <a:schemeClr val="bg1"/>
                </a:solidFill>
              </a:rPr>
              <a:t>Implementar una estrategia flexible en las condiciones de reserva</a:t>
            </a:r>
          </a:p>
          <a:p>
            <a:pPr marL="285750" indent="-285750" algn="just">
              <a:buFont typeface="Arial" panose="020B0604020202020204" pitchFamily="34" charset="0"/>
              <a:buChar char="•"/>
            </a:pPr>
            <a:endParaRPr lang="es-ES" b="1" dirty="0">
              <a:solidFill>
                <a:schemeClr val="bg1"/>
              </a:solidFill>
            </a:endParaRPr>
          </a:p>
          <a:p>
            <a:pPr marL="285750" indent="-285750" algn="just">
              <a:buFont typeface="Arial" panose="020B0604020202020204" pitchFamily="34" charset="0"/>
              <a:buChar char="•"/>
            </a:pPr>
            <a:r>
              <a:rPr lang="es-ES" b="1" dirty="0">
                <a:solidFill>
                  <a:schemeClr val="bg1"/>
                </a:solidFill>
              </a:rPr>
              <a:t>A/B </a:t>
            </a:r>
            <a:r>
              <a:rPr lang="es-ES" b="1" dirty="0" err="1">
                <a:solidFill>
                  <a:schemeClr val="bg1"/>
                </a:solidFill>
              </a:rPr>
              <a:t>Testing</a:t>
            </a:r>
            <a:r>
              <a:rPr lang="es-ES" b="1" dirty="0">
                <a:solidFill>
                  <a:schemeClr val="bg1"/>
                </a:solidFill>
              </a:rPr>
              <a:t> </a:t>
            </a:r>
            <a:r>
              <a:rPr lang="es-ES" dirty="0">
                <a:solidFill>
                  <a:schemeClr val="bg1"/>
                </a:solidFill>
              </a:rPr>
              <a:t>llevado a cabo tanto en el nivel de equipamiento como en las políticas flexibles de las condiciones de reserva</a:t>
            </a:r>
            <a:endParaRPr lang="es-ES" b="1" dirty="0">
              <a:solidFill>
                <a:schemeClr val="bg1"/>
              </a:solidFill>
            </a:endParaRPr>
          </a:p>
          <a:p>
            <a:pPr marL="285750" indent="-285750" algn="just">
              <a:buFont typeface="Arial" panose="020B0604020202020204" pitchFamily="34" charset="0"/>
              <a:buChar char="•"/>
            </a:pPr>
            <a:endParaRPr lang="es-ES" b="1" dirty="0">
              <a:solidFill>
                <a:schemeClr val="bg1"/>
              </a:solidFill>
            </a:endParaRPr>
          </a:p>
          <a:p>
            <a:pPr marL="285750" indent="-285750" algn="just">
              <a:buFont typeface="Arial" panose="020B0604020202020204" pitchFamily="34" charset="0"/>
              <a:buChar char="•"/>
            </a:pPr>
            <a:endParaRPr lang="es-ES" b="1" dirty="0">
              <a:solidFill>
                <a:schemeClr val="bg1"/>
              </a:solidFill>
            </a:endParaRPr>
          </a:p>
          <a:p>
            <a:pPr algn="just"/>
            <a:endParaRPr lang="es-ES" dirty="0">
              <a:solidFill>
                <a:schemeClr val="bg1"/>
              </a:solidFill>
            </a:endParaRPr>
          </a:p>
          <a:p>
            <a:pPr algn="just"/>
            <a:endParaRPr lang="es-ES" dirty="0">
              <a:solidFill>
                <a:schemeClr val="bg1"/>
              </a:solidFill>
            </a:endParaRPr>
          </a:p>
          <a:p>
            <a:pPr algn="just"/>
            <a:endParaRPr lang="es-ES" dirty="0">
              <a:solidFill>
                <a:schemeClr val="bg1"/>
              </a:solidFill>
            </a:endParaRPr>
          </a:p>
          <a:p>
            <a:pPr algn="just"/>
            <a:endParaRPr lang="es-ES" dirty="0">
              <a:solidFill>
                <a:schemeClr val="bg1"/>
              </a:solidFill>
            </a:endParaRPr>
          </a:p>
          <a:p>
            <a:endParaRPr lang="es-ES" dirty="0">
              <a:solidFill>
                <a:schemeClr val="bg1"/>
              </a:solidFill>
            </a:endParaRPr>
          </a:p>
          <a:p>
            <a:endParaRPr lang="es-ES" dirty="0">
              <a:solidFill>
                <a:schemeClr val="bg1"/>
              </a:solidFill>
            </a:endParaRPr>
          </a:p>
        </p:txBody>
      </p:sp>
    </p:spTree>
    <p:extLst>
      <p:ext uri="{BB962C8B-B14F-4D97-AF65-F5344CB8AC3E}">
        <p14:creationId xmlns:p14="http://schemas.microsoft.com/office/powerpoint/2010/main" val="1901491425"/>
      </p:ext>
    </p:extLst>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327</TotalTime>
  <Words>1350</Words>
  <Application>Microsoft Macintosh PowerPoint</Application>
  <PresentationFormat>Presentación en pantalla (16:9)</PresentationFormat>
  <Paragraphs>117</Paragraphs>
  <Slides>21</Slides>
  <Notes>21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Arial</vt:lpstr>
      <vt:lpstr>Lato</vt:lpstr>
      <vt:lpstr>Montserrat</vt:lpstr>
      <vt:lpstr>Focus</vt:lpstr>
      <vt:lpstr>Statistikal Thinking</vt:lpstr>
      <vt:lpstr>Contexto Actual</vt:lpstr>
      <vt:lpstr>¿Que pasa con AirnBnB y los aquileres turísticos?</vt:lpstr>
      <vt:lpstr>2. Problemática</vt:lpstr>
      <vt:lpstr>2.1 Contexto del Problema</vt:lpstr>
      <vt:lpstr>2.1 Contexto del Problema</vt:lpstr>
      <vt:lpstr>2.1 Contexto del Problema</vt:lpstr>
      <vt:lpstr>2.1 Contexto del Problema</vt:lpstr>
      <vt:lpstr>2.1 Contexto del Problema</vt:lpstr>
      <vt:lpstr>3. Roadmap</vt:lpstr>
      <vt:lpstr>4. Análisis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Jesús Jiménez</cp:lastModifiedBy>
  <cp:revision>11</cp:revision>
  <dcterms:modified xsi:type="dcterms:W3CDTF">2025-02-20T19:52:16Z</dcterms:modified>
</cp:coreProperties>
</file>